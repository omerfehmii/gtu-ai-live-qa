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5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47D66-FD62-E500-07B5-F7239A5E1E38}" v="26" dt="2026-03-09T08:13:19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6"/>
  </p:normalViewPr>
  <p:slideViewPr>
    <p:cSldViewPr snapToGrid="0">
      <p:cViewPr>
        <p:scale>
          <a:sx n="96" d="100"/>
          <a:sy n="96" d="100"/>
        </p:scale>
        <p:origin x="106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İSMAİL KABAK" userId="S::i.kabak2019@gtu.edu.tr::f508540d-6b2f-4245-9e48-696165ec4a7c" providerId="AD" clId="Web-{B0347D66-FD62-E500-07B5-F7239A5E1E38}"/>
    <pc:docChg chg="modSld">
      <pc:chgData name="İSMAİL KABAK" userId="S::i.kabak2019@gtu.edu.tr::f508540d-6b2f-4245-9e48-696165ec4a7c" providerId="AD" clId="Web-{B0347D66-FD62-E500-07B5-F7239A5E1E38}" dt="2026-03-09T08:13:19.404" v="25" actId="20577"/>
      <pc:docMkLst>
        <pc:docMk/>
      </pc:docMkLst>
      <pc:sldChg chg="modSp">
        <pc:chgData name="İSMAİL KABAK" userId="S::i.kabak2019@gtu.edu.tr::f508540d-6b2f-4245-9e48-696165ec4a7c" providerId="AD" clId="Web-{B0347D66-FD62-E500-07B5-F7239A5E1E38}" dt="2026-03-09T08:13:19.404" v="25" actId="20577"/>
        <pc:sldMkLst>
          <pc:docMk/>
          <pc:sldMk cId="2513430175" sldId="256"/>
        </pc:sldMkLst>
        <pc:spChg chg="mod">
          <ac:chgData name="İSMAİL KABAK" userId="S::i.kabak2019@gtu.edu.tr::f508540d-6b2f-4245-9e48-696165ec4a7c" providerId="AD" clId="Web-{B0347D66-FD62-E500-07B5-F7239A5E1E38}" dt="2026-03-09T08:13:19.404" v="25" actId="20577"/>
          <ac:spMkLst>
            <pc:docMk/>
            <pc:sldMk cId="2513430175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29:59.419"/>
    </inkml:context>
    <inkml:brush xml:id="br0">
      <inkml:brushProperty name="width" value="0.05" units="cm"/>
      <inkml:brushProperty name="height" value="0.05" units="cm"/>
      <inkml:brushProperty name="color" value="#B7D7A8"/>
    </inkml:brush>
  </inkml:definitions>
  <inkml:trace contextRef="#ctx0" brushRef="#br0">295 53 24575,'6'-3'0,"4"1"0,5 2 0,-3 0 0,-7 0 0,-13 0 0,-14 0 0,-10 0 0,-10 0 0,-6 1 0,-3 1 0,5 0 0,8 0 0,11-2 0,10 0 0,8 0 0,7 0 0,11 0 0,13-2 0,14-1 0,14-5 0,8-2 0,2 0 0,0 0 0,-6 4 0,-9 2 0,-9 3 0,-12 1 0,-12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06.016"/>
    </inkml:context>
    <inkml:brush xml:id="br0">
      <inkml:brushProperty name="width" value="0.05" units="cm"/>
      <inkml:brushProperty name="height" value="0.05" units="cm"/>
      <inkml:brushProperty name="color" value="#B7D7A8"/>
    </inkml:brush>
  </inkml:definitions>
  <inkml:trace contextRef="#ctx0" brushRef="#br0">443 131 24575,'-9'0'0,"-1"0"0,-1 0 0,-5 0 0,-3 0 0,-3 0 0,-6 0 0,-1-2 0,-5-1 0,-5-1 0,-4-4 0,-5 1 0,0 0 0,7 0 0,11 3 0,15 0 0,15 1 0,19 1 0,14 2 0,13 1 0,4 1 0,-1 0 0,-3 0 0,-6-2 0,-2 0 0,-4 1 0,-2 1 0,-6 0 0,-6 0 0,-6-1 0,-6 2 0,-8 0 0,-12 2 0,-18 2 0,-9-1 0,-1-1 0,6-3 0,12-2 0,6 0 0,6-1 0,4-3 0,4-2 0,0-1 0,0-1 0,0 0 0,1 0 0,1 0 0,0-2 0,-1-1 0,1 1 0,0 0 0,0 2 0,0 0 0,1 2 0,3 1 0,2 1 0,3 2 0,2 2 0,1 0 0,-2 1 0,-2 1 0,0 3 0,-1 2 0,1 0 0,4 0 0,6 0 0,6 0 0,2 0 0,-4-1 0,-4-1 0,-4 0 0,-1-2 0,-1 0 0,0 0 0,0-1 0,-1 0 0,-2-1 0,-1-1 0,-1 0 0,2 0 0,2 0 0,4 2 0,1 1 0,-2 0 0,-3 1 0,-6-1 0,-5-2 0,-4 1 0,-5-2 0,0 0 0,3 0 0,3 0 0,10 0 0,1 0 0,3 0 0,-2 0 0,-2 0 0,0 0 0,-1 0 0,0 0 0,1 0 0,1 0 0,1 0 0,0 0 0,0 0 0,-1 0 0,-2 0 0,1-1 0,0 0 0,3-1 0,0 1 0,1 0 0,-2 1 0,-1 0 0,-1 0 0,-2 0 0,1 0 0,1 1 0,3 1 0,1 3 0,1 1 0,-1 1 0,-3-2 0,-3 0 0,-3 1 0,-2 0 0,0 0 0,0 0 0,0-1 0,2-1 0,0-1 0,2-1 0,1-2 0,3 0 0,0-2 0,-2-2 0,-1-2 0,-2-1 0,-1 0 0,-1-1 0,-1 0 0,0-2 0,0-1 0,0 0 0,0 2 0,0 2 0,0 2 0,0-1 0,0 0 0,0 0 0,0 0 0,0 1 0,0-1 0,0 0 0,0-3 0,-1 1 0,-2 2 0,-3 2 0,-2 6 0,0 7 0,-1 4 0,-1 6 0,0 0 0,0-1 0,1-2 0,1-3 0,2-2 0,2-3 0,0-1 0,0-4 0,0-2 0,1-3 0,1-7 0,2-6 0,0-7 0,0-3 0,0 1 0,0 5 0,0 6 0,0 7 0,0 7 0,0 6 0,0 3 0,-2 2 0,1 2 0,-1 0 0,0 0 0,2-1 0,0-2 0,0 0 0,0 0 0,0-1 0,0 2 0,0-1 0,0-4 0,0-7 0,0-6 0,0-5 0,-2-2 0,-2-3 0,-2 1 0,1 2 0,0 5 0,1 4 0,0 4 0,1 2 0,0 6 0,1 4 0,-2 4 0,1 0 0,1-2 0,0-5 0,0 0 0,1-4 0,-1-6 0,2-4 0,0-8 0,0-2 0,0 0 0,0 2 0,0 5 0,-1 1 0,-1 4 0,1 4 0,0 7 0,0 9 0,1 2 0,0 0 0,-1-7 0,0-7 0,-1-7 0,1-6 0,0-3 0,0-1 0,-1 2 0,-1 2 0,0 2 0,-1 2 0,-1 2 0,0 2 0,1 3 0,2 3 0,1-1 0,-1-11 0,-2-13 0,0-7 0,-1 2 0,1 13 0,1 7 0,2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09.312"/>
    </inkml:context>
    <inkml:brush xml:id="br0">
      <inkml:brushProperty name="width" value="0.05" units="cm"/>
      <inkml:brushProperty name="height" value="0.05" units="cm"/>
      <inkml:brushProperty name="color" value="#B7D7A8"/>
    </inkml:brush>
  </inkml:definitions>
  <inkml:trace contextRef="#ctx0" brushRef="#br0">420 116 24575,'0'-21'0,"2"0"0,3-2 0,1 3 0,3 5 0,-1 5 0,1 6 0,0 2 0,-1 2 0,0 5 0,-4 6 0,-1 10 0,-2 4 0,-1-1 0,0-5 0,-2-8 0,-2-5 0,-5-4 0,-3-2 0,-3 0 0,1 0 0,0-1 0,3-1 0,1 1 0,1-1 0,1 2 0,1 0 0,-1 0 0,-3 0 0,-7 0 0,-5 1 0,-5 3 0,-1 4 0,-1 2 0,3-1 0,8-2 0,7-2 0,10-1 0,5 0 0,6-1 0,6-2 0,1 2 0,1 0 0,2 2 0,-1 1 0,2 2 0,-1 0 0,-1 0 0,-2-1 0,-5-2 0,-3-2 0,-1-2 0,-1-1 0,2 0 0,0 0 0,2 0 0,0 0 0,-1 0 0,1 0 0,-6 0 0,-17 0 0,-7 0 0,-17 0 0,-8 0 0,1 0 0,1 0 0,3 0 0,4 2 0,0 1 0,6 1 0,7-1 0,10-1 0,4-2 0,3-2 0,2-3 0,-3-5 0,1-3 0,-2-2 0,2 1 0,3 0 0,2 0 0,1 1 0,0 2 0,1 5 0,1 2 0,3 2 0,1 1 0,3 1 0,-2 0 0,3 0 0,0 0 0,0 2 0,3 1 0,-3 1 0,1 1 0,-1-1 0,0 0 0,-2 0 0,-2 0 0,-1 0 0,-1 1 0,-1-3 0,0 1 0,0 0 0,1 1 0,0 0 0,1 2 0,-1 0 0,-1 0 0,0-1 0,0-2 0,-1 0 0,2-2 0,1-1 0,0 1 0,2-1 0,3 0 0,0 0 0,3 0 0,-1 0 0,0 0 0,0 0 0,1 0 0,-2 0 0,-2 0 0,-4 0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26.025"/>
    </inkml:context>
    <inkml:brush xml:id="br0">
      <inkml:brushProperty name="width" value="0.05" units="cm"/>
      <inkml:brushProperty name="height" value="0.05" units="cm"/>
      <inkml:brushProperty name="color" value="#B7D7A8"/>
    </inkml:brush>
  </inkml:definitions>
  <inkml:trace contextRef="#ctx0" brushRef="#br0">1 1 24575,'0'9'0,"0"4"0,0 3 0,0-1 0,0-5 0,0-5 0,0-2 0,1-1 0,-1 0 0,1 0 0,-1 0 0,0 0 0,0 2 0,0 3 0,0 0 0,0 1 0,0-3 0,1-1 0,0-1 0,0-1 0,0 0 0,0-1 0,0 1 0,0-1 0,0 0 0,-1-4 0,0-1 0,0-5 0,0 2 0,0-2 0,0-3 0,0 2 0,0 1 0,0 3 0,0 1 0,0 1 0,0 1 0,0 0 0,0 1 0,0-1 0,0 1 0,0-1 0,0 1 0,0-1 0,0 1 0,1-2 0,0 0 0,0 1 0,-1 1 0,1 2 0,0 5 0,-1 1 0,0 2 0,0-2 0,0-1 0,0-1 0,0 1 0,0 0 0,0-1 0,0 0 0,0-1 0,0 0 0,0-1 0,0 1 0,0-1 0,0 1 0,0 0 0,0 0 0,0-1 0,0 1 0,0-1 0,0 1 0,0 0 0,0 1 0,0-2 0,0 1 0,0-1 0,0 1 0,0-1 0,0 1 0,0-1 0,0 1 0,0 0 0,0 1 0,0-1 0,1 0 0,0 0 0,-1-1 0,0 1 0,0 0 0,0 0 0,0 1 0,0 0 0,0-1 0,0-1 0,0-7 0,0 1 0,0-6 0,0 4 0,0 0 0,0 2 0,0 1 0,0 0 0,0 1 0,0 0 0,1-1 0,0 0 0,-1 0 0,1-1 0,-1 0 0,0 1 0,0 0 0,0 0 0,0 0 0,0 0 0,0 0 0,0 0 0,0 0 0,0 0 0,0 0 0,0 0 0,0 1 0,0-1 0,0 0 0,0 0 0,0 0 0,0-1 0,0 1 0,0 1 0,0-1 0,0 0 0,0-1 0,0 1 0,0 0 0,-1 0 0,0 0 0,1 0 0,-1 1 0,1 0 0,-1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33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543 263 24575,'-20'0'0,"-15"0"0,-16 0 0,-8 0 0,-4 0 0,3 0 0,6 0 0,6 0 0,16 0 0,14 0 0,24 0 0,41 1 0,4 4 0,8 2 0,16 3 0,5 1 0,8 3 0,0 1 0,-6-1 0,-5 1 0,-20-5 0,-6-1 0,14 1 0,-44-6 0,-41-4 0,-69-9 0,13 1 0,-8-1 0,-14-1 0,-2 0 0,32 3 0,0-1 0,4 2 0,-15 0 0,7 1 0,-19 0 0,50 3 0,69 1 0,20 1 0,10 0 0,19 0 0,6 0 0,10 2 0,1 0 0,-10 1 0,-5-1 0,-21 1 0,-7 0 0,3 0 0,-64-12 0,-67-17 0,9 4 0,-6-2 0,-12-4 0,-1-3 0,1 1 0,4 0 0,14 4 0,7 2 0,-15-11 0,48 13 0,54 13 0,37 5 0,19 6 0,-7 2 0,-26 1 0,-24-1 0,-14-2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38.5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39.8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189 422 24575,'-10'0'0,"-8"0"0,-5 0 0,-10 0 0,0 0 0,11 0 0,19 0 0,38 0 0,31 0 0,27-2 0,-43 2 0,0 0 0,27 2 0,-22 2 0,-36 3 0,-49-14 0,-50-17 0,23 5 0,-2-1 0,-3-2 0,2-1 0,9 4 0,7 1 0,-1-4 0,72 24 0,61 23 0,-24-6 0,2 2 0,2 1 0,-2-1 0,28 8 0,-39-15 0,-50-24 0,-56-32 0,5 8 0,-5-3 0,-10-7 0,0-1 0,1 3 0,4 1 0,13 8 0,4 4 0,-9-9 0,27 22 0,23 22 0,14 16 0,5 8 0,-1-2 0,-7-14 0,-9-17 0,-8-9 0,-8-2 0,-2 4 0,3 8 0,4 10 0,4 19 0,3 25 0,2 20 0,0 3 0,0-18 0,-1-40 0,-2-9 0,0-20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42.29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0:50.3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310 368 24575,'0'30'0,"0"-2"0,-1-13 0,-6-13 0,-20-33 0,-21-30 0,14 20 0,-1-2 0,0-1 0,1 2 0,-18-22 0,23 29 0,21 35 0,21 35 0,16 30 0,12 17 0,5 5 0,-8-18 0,-3-17 0,-4-14 0,-4-10 0,-3-6 0,-9-9 0,-20-20 0,-16-21 0,-12-12 0,-3-6 0,17 15 0,24 27 0,25 29 0,17 25 0,0 4 0,-12-15 0,-17-25 0,-10-44 0,-5-48 0,-2 24 0,-1-4 0,0-3 0,0 1 0,0-37 0,0 44 0,0 37 0,4 60 0,0-1 0,3 21 0,-4-33 0,-1-17 0,8-54 0,0 3 0,8-29 0,-4 33 0,0 31 0,-1 55 0,-2 43 0,-6-32 0,-1 3 0,-2-1 0,0-1 0,-2 28 0,0-40 0,0-54 0,2-41 0,1-25 0,3-4 0,-1 17 0,0 21 0,-2 17 0,3 30 0,10 49 0,-4-13 0,1 5 0,3 13 0,-1 1 0,0-3 0,0-3 0,7 23 0,-9-44 0,-7-67 0,-4-21 0,-4-13 0,0-21 0,-2-7 0,-1-11 0,0 0 0,0 9 0,0 6 0,1 23 0,0 8 0,2-6 0,3 52 0,12 63 0,-1-2 0,2 7 0,3 15 0,0 4 0,2 0 0,-1-2 0,-5-16 0,-1-7 0,3 10 0,-8-53 0,-5-51 0,-2-38 0,0-24 0,0 3 0,0 28 0,0 32 0,0 44 0,0 34 0,0 15 0,0 2 0,0-25 0,7-41 0,16-64 0,-4 14 0,2-5 0,3-9 0,1 0 0,-2 4 0,0 6 0,9-16 0,-14 46 0,-15 47 0,-16 40 0,-10 23 0,-4 2 0,5-18 0,10-30 0,12-36 0,15-36 0,12-28 0,8-10 0,-3 16 0,-11 26 0,-9 38 0,-12 59 0,-4-11 0,-3 6 0,-2 11 0,-1 1 0,0-1 0,-1-4 0,-5 22 0,9-43 0,16-52 0,26-53 0,-10 17 0,3-4 0,5-5 0,0 0 0,-3 5 0,-1 4 0,9-12 0,-15 30 0,-16 36 0,-15 33 0,-13 26 0,-8 12 0,0-11 0,11-30 0,21-41 0,24-36 0,18-25 0,8-4 0,-10 18 0,-17 27 0,-24 56 0,-27 56 0,3-25 0,-1 3 0,-4 5 0,0-3 0,4-13 0,1-6 0,-2 6 0,28-60 0,26-48 0,20-32 0,-20 36 0,0 1 0,20-28 0,-15 27 0,-16 28 0,-12 27 0,-14 38 0,-15 30 0,-8 18 0,-2-9 0,11-35 0,12-38 0,38-66 0,-6 7 0,19-24 0,-22 55 0,-19 55 0,-19 43 0,5-28 0,-2 2 0,0-2 0,0-4 0,-3 10 0,28-56 0,32-62 0,-10 13 0,2-5 0,4-5 0,0 1 0,-5 9 0,-3 4 0,9-11 0,-18 32 0,-19 40 0,-15 33 0,-11 20 0,-2 4 0,7-27 0,28-51 0,31-52 0,-9 10 0,4-3 0,4-3 0,1 1 0,23-24 0,-22 34 0,-24 42 0,-33 54 0,0-11 0,-3 3 0,-3 6 0,-1 1 0,1-5 0,2-5 0,0 3 0,18-49 0,26-60 0,-4 12 0,2-5 0,4-7 0,1 1 0,-2 4 0,-2 4 0,8-17 0,-15 32 0,-22 35 0,-24 28 0,-20 19 0,-7 6 0,12-14 0,21-39 0,30-55 0,6 8 0,5-4 0,2-8 0,2 1 0,1 6 0,-2 5 0,6-9 0,-21 42 0,-35 53 0,-1 5 0,-4 7 0,-8 11 0,-2 2 0,-2 5 0,2-1 0,9-11 0,3-4 0,-7 11 0,21-30 0,14-38 0,15-27 0,12-23 0,7-9 0,3 9 0,-8 18 0,-8 18 0,-4 12 0,9 10 0,17 11 0,30 12 0,-21-10 0,4-1 0,8-1 0,3-2 0,5-5 0,2-4 0,-3-8 0,0-6 0,-5-5 0,-3-3 0,-9-1 0,-4-2 0,16-13 0,-29 24 0,-27 27 0,-19 24 0,-15 15 0,-10 9 0,-5 0 0,1-3 0,6-8 0,11-18 0,11-26 0,9-45 0,8-48 0,3 26 0,2-2 0,2-6 0,1 1 0,1 6 0,1 4 0,6-24 0,-11 36 0,-16 38 0,-24 42 0,-17 30 0,19-26 0,0 1 0,-26 36 0,20-25 0,17-27 0,13-33 0,12-26 0,7-16 0,4-2 0,2 14 0,-10 18 0,-10 19 0,-15 20 0,-14 15 0,-2 6 0,5-6 0,15-18 0,15-20 0,8-14 0,4-8 0,-3 9 0,-9 34 0,-13 65 0,-1-18 0,-2 5 0,-2 13 0,-2 1 0,1-5 0,1-6 0,4-20 0,2-7 0,0 7 0,12-47 0,14-40 0,15-32 0,10-18 0,-18 39 0,-1 0 0,21-37 0,-7 20 0,-9 16 0,-7 18 0,-3 10 0,7-2 0,8-4 0,3 1 0,-5 4 0,-9 8 0,-8 7 0,-4 2 0,0 0 0,-1-1 0,2-1 0,4-3 0,1 0 0,1 0 0,-4 2 0,-2 3 0,-2 1 0,0-1 0,7-4 0,12-10 0,13-8 0,9-7 0,-4 3 0,-10 7 0,-13 8 0,-8 4 0,-3-2 0,-1-5 0,3-5 0,0-2 0,-1 5 0,-3 8 0,-4 9 0,-2 11 0,-3 17 0,-9 25 0,-8 17 0,-9 11 0,-5-9 0,7-21 0,7-19 0,7-18 0,5-8 0,-1-1 0,0-2 0,0 1 0,-4 2 0,-7 4 0,-6 4 0,-6 4 0,2-1 0,8-5 0,10-11 0,13-13 0,11-10 0,5-1 0,0 4 0,-5 9 0,-7 5 0,-4 4 0,-2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1:02.4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312 778 24575,'-2'-49'0,"-1"2"0,3 7 0,0 13 0,0 4 0,0 4 0,0-6 0,0-3 0,-6 2 0,-8 4 0,-8 3 0,-6 4 0,2 4 0,7 4 0,6 5 0,6 5 0,3 6 0,2 7 0,-1 7 0,-2 3 0,-4-1 0,-4 3 0,-7 5 0,-6 3 0,-3-2 0,3-8 0,8-8 0,7-10 0,7-7 0,2-24 0,2-9 0,0-16 0,0 7 0,0 9 0,0 12 0,0 6 0,0 5 0,0 2 0,0 2 0,0 0 0,1-1 0,0 1 0,1 0 0,1 0 0,1 1 0,0 0 0,0-1 0,3-4 0,2-4 0,1-4 0,1-1 0,0 5 0,-1 5 0,-1 6 0,1 1 0,1 1 0,7-1 0,7-1 0,6-4 0,3-2 0,0-2 0,0-1 0,3-2 0,1-3 0,1-4 0,-2-1 0,-6 3 0,-7 2 0,-7 6 0,-6 8 0,-5 15 0,-3 16 0,-6 11 0,-2 7 0,-2-1 0,-1 0 0,2 13 0,-2 16 0,-3 17 0,-2 4 0,1-16 0,1-24 0,6-27 0,2-22 0,11-55 0,10-10 0,-4 8 0,2-3 0,1 5 0,2 2 0,14-37 0,-8 17 0,-8 24 0,-7 22 0,-4 17 0,-4 19 0,-2 24 0,1 23 0,3 29 0,1-36 0,3 3 0,4 8 0,2 4 0,3 4 0,1 2 0,0-2 0,-1-2 0,-2-9 0,-1-5 0,3 21 0,-8-42 0,-6-40 0,-3-35 0,0-39 0,0 20 0,0-4 0,0-17 0,0-4 0,0-12 0,0-3 0,0 1 0,0 0 0,0 7 0,0 4 0,0 17 0,0 5 0,0-19 0,0 33 0,0 19 0,0 1 0,0-1 0,0 3 0,1 14 0,10 42 0,5 8 0,13 31 0,2-4 0,0-1 0,-5-8 0,-8-16 0,-7-17 0,-5-14 0,-4-10 0,0-14 0,-2-16 0,0-15 0,0-15 0,0-6 0,0-2 0,0 4 0,2 12 0,1 16 0,1 17 0,2 12 0,0 7 0,2 12 0,7 20 0,10 18 0,11 20 0,6 6 0,-3-4 0,-7-13 0,-10-17 0,-9-18 0,-6-13 0,-4-9 0,-2-24 0,-5 4 0,-7-16 0,-4 14 0,-3 5 0,2 7 0,6 5 0,4 14 0,3 18 0,3 27 0,3 20 0,3 11 0,0-5 0,-1-22 0,-3-19 0,-2-25 0,-1-15 0,-3-15 0,-2-14 0,-5-11 0,-1-8 0,-1 1 0,3 7 0,4 11 0,3 10 0,7 8 0,6 7 0,9 13 0,9 19 0,8 19 0,-1 10 0,-3-8 0,-8-15 0,-7-16 0,-6-11 0,-6-9 0,-2-11 0,-2-13 0,-4-16 0,-5-15 0,-5-4 0,0 7 0,3 16 0,9 22 0,12 21 0,21 22 0,24 19 0,14 5 0,-4-5 0,-19-19 0,-23-16 0,-15-15 0,-22-25 0,-20-23 0,-19-20 0,-10-4 0,10 15 0,12 21 0,16 21 0,12 13 0,7 12 0,3 11 0,2 11 0,4 6 0,2-4 0,3-8 0,1-10 0,0-7 0,4-3 0,6-2 0,5 0 0,0 0 0,-7-1 0,-9-2 0,-5-1 0,-2-2 0,3 0 0,8 3 0,11 1 0,11 3 0,6 3 0,2 6 0,-2 4 0,-6 2 0,-9-1 0,-9-5 0,-6-4 0,-3-3 0,-3-1 0,-3 2 0,-1 3 0,1 3 0,1 9 0,4 8 0,2 7 0,-2-1 0,-1-8 0,-5-11 0,-3-10 0,-9-13 0,-17-22 0,-21-23 0,-18-17 0,29 31 0,0-1 0,2 3 0,2 2 0,-18-23 0,18 17 0,20 21 0,18 12 0,19 10 0,15 8 0,10 4 0,8 8 0,2 3 0,2 3 0,-3-1 0,-12-4 0,-14-6 0,-13-8 0,-10-7 0,-5-4 0,-2-9 0,-4-3 0,-10-14 0,-13-14 0,-9-9 0,-3-1 0,5 12 0,12 20 0,8 18 0,13 21 0,15 23 0,19 22 0,16 15 0,-21-37 0,1 0 0,25 32 0,-14-18 0,-12-18 0,-14-18 0,-6-9 0,-5-5 0,-2-1 0,0 1 0,-1 4 0,5 9 0,7 9 0,5 6 0,1-1 0,-4-11 0,-6-11 0,-4-10 0,-3-12 0,-1-10 0,-10-18 0,-17-23 0,-17-20 0,16 34 0,-1 0 0,2 1 0,1 2 0,-13-26 0,15 25 0,12 26 0,9 19 0,10 21 0,5 10 0,33 39 0,-15-27 0,3 0 0,4 4 0,2-1 0,-3-4 0,-3-4 0,7 5 0,-19-21 0,-10-11 0,-5-6 0,-4-5 0,-1-7 0,-2-5 0,0-7 0,0-2 0,-4-1 0,-4-2 0,-6 0 0,-7-6 0,0-1 0,1 0 0,5 4 0,7 11 0,12 10 0,11 11 0,13 11 0,21 18 0,11 16 0,-2 5 0,-12-5 0,-19-17 0,-14-15 0,-5-9 0,-4-10 0,-3-6 0,-9-8 0,-21-31 0,-15-18 0,-8-9 0,4 7 0,20 31 0,13 19 0,10 16 0,33 31 0,1-1 0,23 22 0,-8-10 0,-1-1 0,0-1 0,-3-5 0,-5-5 0,-10-9 0,-9-9 0,-7-10 0,-8-5 0,-4-5 0,-4-3 0,0 0 0,1 2 0,2 1 0,2 5 0,-1 0 0,0-1 0,-6-11 0,-7-20 0,-9-20 0,-3-8 0,5 9 0,8 17 0,7 21 0,6 12 0,10 29 0,3-5 0,10 18 0,0-13 0,2 1 0,-2-2 0,-2-2 0,0-2 0,-1-2 0,0 0 0,-2-2 0,-3-3 0,-3-3 0,-2-4 0,-2-3 0,-1-1 0,0 1 0,2-1 0,5 1 0,4 2 0,-1 1 0,-2 1 0,-5-1 0,-2 0 0,1 0 0,0 1 0,3 3 0,0 1 0,1 1 0,-1 0 0,-1-2 0,0-2 0,-1-1 0,-2-1 0,-1-2 0,0-2 0,1-5 0,2 2 0,7-2 0,6 6 0,4 5 0,-2 4 0,-7 3 0,-7-1 0,-5-2 0,-2-2 0,-2-2 0,0-1 0,-4-1 0,-2-3 0,0-3 0,0-3 0,4-4 0,0 1 0,0 0 0,-1 0 0,-1 2 0,0 0 0,1 2 0,0 0 0,-1-2 0,1 4 0,-1-3 0,0 2 0,1-1 0,0-1 0,1 0 0,0-1 0,-1 1 0,1 1 0,-4 1 0,1 2 0,-2-1 0,2 1 0,0 0 0,-1-4 0,-2 1 0,-3-4 0,-8-1 0,-3-2 0,0 2 0,5 2 0,8 5 0,5 2 0,7 11 0,3 0 0,8 13 0,4 5 0,4 5 0,-1 3 0,-5-4 0,-7-5 0,-4-8 0,-4-6 0,-2-7 0,-1-3 0,-9-5 0,-7-8 0,-19-7 0,-16-8 0,-13-2 0,-6 1 0,8 5 0,3 2 0,-2 0 0,-6 1 0,-5-1 0,5 1 0,8 5 0,8 0 0,1 0 0,-6-1 0,-7 0 0,-7 1 0,0 3 0,8 2 0,11 0 0,10 2 0,2 1 0,0 2 0,0 2 0,5 0 0,9 0 0,9 0 0,7 0 0,-1 0 0,-4 2 0,-6 1 0,-4 2 0,2 1 0,-2 0 0,-4 2 0,-10 4 0,-11 6 0,-8 5 0,-3 1 0,3-3 0,3-4 0,7-4 0,8-1 0,9-1 0,11-4 0,7-4 0,4-1 0,0-2 0,-4 2 0,-2 0 0,0-1 0,2-1 0,2 0 0,5 0 0,0 0 0,4 0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1:06.1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24575,'13'15'0,"-5"-5"0,-5-6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1:23.1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5426 383 24575,'-40'51'0,"0"0"0,1-1 0,1 1 0,-4 3 0,2-1 0,-18 28 0,49-51 0,51-61 0,25-30 0,-12 10 0,4-5 0,2-2-150,5-6 1,0-1 0,-1 1 149,-6 5 0,-2 2 0,-7 7 0,-11 11 0,-7 7 0,4-1 0,-32 37 0,-38 46 0,-2-5 0,-6 6 0,-10 11 0,-4 2 224,-1 0 0,0-3-224,8-8 0,3-5 0,-16 15 0,30-33 0,32-36 0,27-28 0,15-16 0,3-1 0,-14 17 0,-13 14 0,-15 12 0,-11 9 0,-17 7 0,-14 8 0,-5 3 0,3-3 0,15-18 0,13-29 0,11-24 0,7-6 0,3 2 0,2 16 0,-10 20 0,-14 20 0,-17 31 0,-10 18 0,2-1 0,13-15 0,18-29 0,20-28 0,14-17 0,6-6 0,-4 11 0,-9 15 0,-12 15 0,-30 42 0,-6 8 0,-19 28 0,14-15 0,16-24 0,41-44 0,33-34 0,-17 13 0,3-2 0,1-1 0,-1 3 0,16-13 0,-22 19 0,-23 22 0,-24 25 0,-16 24 0,-9 14 0,0 4 0,11-15 0,15-25 0,17-29 0,16-25 0,8-13 0,-3 3 0,-16 17 0,-27 11 0,-45 16 0,7 9 0,-7 4 0,-11 4 0,-2 3 0,-1 4 0,2 1 0,13-2 0,5-2 0,-15 6 0,33-21 0,23-27 0,18-18 0,12-11 0,5 3 0,-1 15 0,-7 14 0,-8 12 0,-2 6 0,7 1 0,14 0 0,15 0 0,6-1 0,-7 0 0,-13 0 0,-14 12 0,-15 24 0,-11 22 0,-6 12 0,0-8 0,10-23 0,13-19 0,20-20 0,18-8 0,9-5 0,-5 2 0,-15 6 0,-19 3 0,-59 15 0,-24 1 0,10-2 0,-3-3 0,3-4 0,0-7 0,4-7 0,2-9 0,8-9 0,5-8 0,9-7 0,5-4 0,8-1 0,5 0 0,-1-37 0,17 22 0,13 20 0,9 18 0,10 12 0,5 8 0,1 5 0,-2 6 0,-9 5 0,-8 8 0,-14 9 0,-22 19 0,-18 16 0,-13 6 0,1-7 0,14-24 0,14-21 0,11-26 0,5-23 0,4-19 0,7-7 0,11 5 0,10 12 0,8 15 0,1 11 0,-6 11 0,-8 6 0,-10 5 0,-18 7 0,-37 10 0,-4-5 0,-7 1 0,-18 3 0,-6 0 0,-8 0 0,-1-3 0,5-4 0,5-4 0,17-5 0,4-5 0,-14-4 0,36-10 0,31-5 0,29-2 0,23 4 0,18 5 0,-1 5 0,-14 4 0,-19 2 0,-17 7 0,-11 11 0,-9 16 0,-8 10 0,-6-1 0,-2-10 0,3-15 0,2-22 0,2-20 0,3-14 0,3-9 0,11 9 0,12 13 0,13 12 0,7 12 0,-4 6 0,-12 4 0,-15 5 0,-18 2 0,-17 1 0,-13-3 0,-6-6 0,8-10 0,14-8 0,14-7 0,26-5 0,18 1 0,13 4 0,-1 6 0,-15 5 0,-15 3 0,-35 12 0,-49 14 0,11-9 0,-6 0 0,-8 0 0,0-2 0,4-3 0,4-4 0,-24-4 0,47-8 0,47-3 0,61 0 0,-14 6 0,5 2 0,6 3 0,0 3 0,-5 3 0,-5 1 0,21 12 0,-32-4 0,-20-5 0,-16-5 0,-5-4 0,4-2 0,11-1 0,25 2 0,33 9 0,-26-1 0,1 0 0,40 13 0,-34-6 0,-52-11 0,-51-13 0,-32-11 0,29 3 0,-3-2 0,-4-3 0,-2-1 0,0-1 0,0 1 0,3 1 0,2 1 0,4 4 0,2 0 0,-35-6 0,17 3 0,5-1 0,4-1 0,4 0 0,3 0 0,7 4 0,12 3 0,13 3 0,24 5 0,27 3 0,20 0 0,12 1 0,-3 0 0,-12 0 0,-14 0 0,-15 0 0,-10 1 0,-15 2 0,-27 9 0,-33 9 0,17-6 0,-3-1 0,-5 2 0,0-1 0,4-2 0,4-1 0,-26 5 0,34-6 0,36-4 0,39-2 0,26 1 0,14-1 0,-7-1 0,-20-1 0,-18-2 0,-19-1 0,-15 0 0,-24-1 0,-29-5 0,-27-7 0,-11-4 0,13-1 0,28 5 0,32 6 0,36 4 0,38 2 0,21 2 0,11 2 0,-17 1 0,-27 2 0,-22-2 0,-33-4 0,-31-7 0,-29-9 0,-18-4 0,12-2 0,21 8 0,29 7 0,30 10 0,27 12 0,17 7 0,7 4 0,-5-4 0,-15-8 0,-15-6 0,-22-6 0,-42-1 0,-42-2 0,33 0 0,-1 0 0,-1 0 0,3 1 0,-26-2 0,47 2 0,54 3 0,45 7 0,26 8 0,-2 4 0,-28-3 0,-26-7 0,-26-7 0,-32-9 0,-33-9 0,-24-5 0,-13-2 0,12 7 0,22 7 0,28 6 0,30 3 0,36 6 0,26 4 0,13 1 0,-5-2 0,-21-4 0,-26-6 0,-30-8 0,-44-22 0,11 3 0,-3-3 0,-6-5 0,2-2 0,2 0 0,5 1 0,-11-15 0,34 22 0,31 23 0,33 23 0,20 13 0,7 8 0,-11-7 0,-23-13 0,-23-8 0,-31-9 0,-30-9 0,-18-5 0,-4-5 0,14 2 0,23 4 0,20 3 0,37 4 0,40 6 0,26 7 0,-39-2 0,-2 0 0,33 10 0,-31-3 0,-26-7 0,-44-4 0,-37-1 0,-22 4 0,-8 4 0,22 4 0,25-1 0,19-2 0,21 1 0,14 3 0,7 2 0,3-1 0,-8-5 0,-9-3 0,-10-6 0,7 2 0,11 4 0,14 5 0,6 4 0,-11-1 0,-23-5 0,-33-6 0,-40-3 0,15-3 0,-4 0 0,-7 0 0,-1-1 0,1 0 0,3-2 0,9 0 0,4-1 0,-13-5 0,31 1 0,32 6 0,32 8 0,25 9 0,13 6 0,-1 0 0,-21-8 0,-19-7 0,-17-10 0,-22-23 0,-28-33 0,-21-18 0,22 32 0,-2 2 0,2 5 0,1 4 0,-15-11 0,20 19 0,27 26 0,27 21 0,16 15 0,7 6 0,-5-5 0,-17-13 0,-13-11 0,-21-12 0,-33-15 0,-32-13 0,28 11 0,-2-1 0,-1 1 0,3 1 0,-26-6 0,27 10 0,22 8 0,23 12 0,20 17 0,16 17 0,10 11 0,-1-2 0,-11-14 0,-15-17 0,-12-16 0,-25-35 0,0 5 0,-14-18 0,14 22 0,8 12 0,11 14 0,17 25 0,13 24 0,10 14 0,1-1 0,-11-19 0,-12-20 0,-17-23 0,-22-20 0,-39-27 0,17 13 0,-3-1 0,-4-2 0,-2 0 0,5 3 0,2 2 0,-16-10 0,23 16 0,19 15 0,17 18 0,18 22 0,13 17 0,7 9 0,-2-8 0,-13-17 0,-11-17 0,-14-19 0,-19-21 0,-15-15 0,-12-9 0,2 2 0,10 11 0,12 12 0,12 14 0,14 19 0,12 25 0,10 18 0,4 8 0,-3-8 0,-8-19 0,-6-13 0,-8-13 0,-13-14 0,-15-19 0,-14-15 0,-7-12 0,3 2 0,10 12 0,12 13 0,10 15 0,9 21 0,11 27 0,10 20 0,8 14 0,2-7 0,-7-19 0,-14-22 0,-27-35 0,-30-30 0,11 8 0,-3-3 0,-4-4 0,0-2 0,2 3 0,1 1 0,-31-29 0,21 20 0,15 15 0,18 15 0,10 10 0,7 8 0,7 10 0,9 12 0,7 10 0,5 1 0,-4-8 0,-7-10 0,-7-15 0,-6-16 0,-7-16 0,-9-14 0,-6-3 0,0 8 0,6 11 0,8 12 0,10 12 0,13 7 0,12 7 0,9 3 0,1 0 0,-6-4 0,-6-4 0,-9-2 0,-3-3 0,-5-3 0,-1-3 0,-4-4 0,-2-3 0,-3-3 0,-3-2 0,-1 4 0,1 6 0,17 23 0,10 10 0,17 18 0,-1-2 0,-8-7 0,-12-12 0,-15-11 0,-28-8 0,-30-8 0,-35-8 0,36 4 0,1 0 0,2-2 0,1 0 0,-33-8 0,25 4 0,16 3 0,14 4 0,12 3 0,7 3 0,5 4 0,6 8 0,1 1 0,4 8 0,1 1 0,3 4 0,1 1 0,0 0 0,-1-4 0,0 0 0,-1-2 0,0-1 0,-2-3 0,-2-4 0,-2-4 0,-3-2 0,-13-8 0,-8-6 0,-16-9 0,-8-8 0,-4-3 0,0 0 0,3-1 0,6 3 0,5 0 0,6 1 0,4 1 0,4 1 0,2 2 0,2 3 0,3 4 0,2 3 0,0 2 0,0 0 0,-1 1 0,0 0 0,2 3 0,2 2 0,1 2 0,1 2 0,0 2 0,2 2 0,1 6 0,2 4 0,1 6 0,2 7 0,3 4 0,2 1 0,0-4 0,-1-6 0,-1-7 0,0-3 0,-2 1 0,0 3 0,0 5 0,-1 0 0,-1-4 0,0-5 0,-2-4 0,0-4 0,-13-16 0,1-3 0,-12-13 0,5 2 0,-1 3 0,2 1 0,2 3 0,3 0 0,1 1 0,1 2 0,1 3 0,1 3 0,1 2 0,0 1 0,0 1 0,1 1 0,1 2 0,1 1 0,1 1 0,1 9 0,1 3 0,2 9 0,1 1 0,2 1 0,4 3 0,3 1 0,1-1 0,0 1 0,-1-2 0,-2-3 0,-1-4 0,-3-6 0,-2-3 0,0-1 0,0 3 0,2 3 0,-1 2 0,0-2 0,0-4 0,-3-3 0,-12-14 0,4 2 0,-10-10 0,7 6 0,-5-2 0,-3-1 0,-1 1 0,2 1 0,3 2 0,0-1 0,0 1 0,-2-1 0,0-1 0,1 2 0,1 1 0,1-1 0,0 0 0,1 0 0,1 0 0,0 2 0,0 0 0,1 2 0,0 0 0,1 0 0,1-1 0,0 1 0,2 0 0,1 1 0,1-1 0,0 1 0,1 1 0,2 16 0,3-6 0,2 12 0,1-10 0,1-1 0,0 0 0,-2-1 0,-1-2 0,-1-1 0,0 1 0,1 1 0,0-1 0,2 0 0,-2-2 0,2 2 0,1 0 0,-1 0 0,1 0 0,-2-1 0,0 0 0,0 1 0,-1 0 0,0 2 0,-1-3 0,-1 2 0,0-1 0,0 1 0,-3-2 0,1 0 0,-4-1 0,0-2 0,2 0 0,-2-5 0,4 0 0,0-2 0,0 0 0,1 2 0,-1-2 0,0 1 0,0-1 0,0 2 0,-1-2 0,1 2 0,0-1 0,-1 1 0,0-2 0,1 3 0,-1-1 0,-1-2 0,1 2 0,0-1 0,-1 0 0,0 0 0,-2-1 0,1 1 0,-2 0 0,1-1 0,0 1 0,2 0 0,0 1 0,0 0 0,1 0 0,-1 0 0,1 0 0,1-1 0,-1-1 0,0 1 0,-1 0 0,2 1 0,-1 0 0,0-1 0,-1 1 0,-1-1 0,1 3 0,0-1 0,-1 0 0,0 1 0,0-2 0,-1 1 0,1-1 0,0 1 0,0 1 0,0 0 0,1 0 0,-1 0 0,0-1 0,-1 0 0,0-1 0,-1 1 0,0-1 0,0 0 0,1 1 0,-1-1 0,2 2 0,0 0 0,1-1 0,-2 1 0,2 0 0,-2-1 0,2 2 0,-1 0 0,-1 0 0,1 1 0,0 4 0,-1-3 0,1 3 0,-1-4 0,1 0 0,2-6 0,1 3 0,1-4 0,8 4 0,-4 1 0,5 1 0,-4 1 0,0 0 0,2 3 0,-1 0 0,-2 0 0,2 3 0,-2-3 0,1 1 0,-2-1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1:28.57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284 230 24575,'-9'-11'0,"1"0"0,3 4 0,0 1 0,-1-1 0,2 3 0,1 0 0,-1 0 0,1 0 0,-3 0 0,0-1 0,1 0 0,-1 1 0,3 0 0,0 1 0,-2-2 0,0-1 0,-3-1 0,1 1 0,0 0 0,0 1 0,2-1 0,0 1 0,1-1 0,1 2 0,14 14 0,-6-5 0,10 10 0,-9-8 0,1 0 0,0 1 0,0 1 0,-2-2 0,1 1 0,-1 0 0,1 1 0,-1 0 0,1 0 0,-1-2 0,0-1 0,-2-3 0,-15-7 0,6 2 0,-12-6 0,10 2 0,-1-1 0,-2-1 0,0-1 0,1 2 0,0 0 0,1 1 0,2 0 0,0 1 0,1 0 0,1 1 0,2 1 0,17 6 0,-8-1 0,12 4 0,-13-2 0,1 1 0,-1 0 0,0 0 0,0 0 0,1 0 0,-1 0 0,0 1 0,0-1 0,1 0 0,-2 0 0,0 0 0,-1-1 0,0 0 0,2 2 0,1 3 0,1 3 0,0 1 0,0-1 0,0-2 0,0 0 0,-1-2 0,0 1 0,0-2 0,-1 0 0,-1-3 0,-14-18 0,5 7 0,-12-13 0,11 12 0,0 0 0,1 3 0,2 2 0,-1-1 0,0 0 0,-2-3 0,1 2 0,1 0 0,1 1 0,-2-3 0,0 0 0,-2-3 0,2 1 0,0 3 0,2 2 0,-1 0 0,0-1 0,-3-2 0,0 0 0,1 0 0,1 1 0,2 2 0,-1 1 0,-1-2 0,0 0 0,0 0 0,-1 1 0,2 1 0,0 0 0,0-2 0,-2-1 0,0-1 0,1 1 0,0 2 0,3 1 0,-3-1 0,2 0 0,-3-1 0,2 1 0,0 0 0,-1 1 0,1-1 0,-3-1 0,2 1 0,0 0 0,0 0 0,-1 0 0,-1-2 0,1 1 0,0-1 0,1 1 0,1 2 0,-1 0 0,1-1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5:31:40.2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56 550 24575,'-1'-34'0,"0"4"0,1 7 0,0 4 0,1 2 0,2 3 0,3 2 0,2-3 0,1-1 0,1 0 0,1 0 0,-1 1 0,-1 1 0,-1 1 0,-1 2 0,-1 4 0,-2 3 0,-1 2 0,3-4 0,0 0 0,3-7 0,0 0 0,0 1 0,-1 1 0,-2 2 0,-2 4 0,-2 2 0,-8 19 0,0-6 0,-5 16 0,1-9 0,-4 5 0,-4 7 0,0 1 0,1-3 0,5-6 0,4-6 0,-1 1 0,0 1 0,-1 1 0,1-1 0,1-3 0,2-4 0,2-3 0,0-2 0,0 2 0,-2 0 0,0 2 0,0-2 0,2-1 0,2-2 0,10-17 0,-4 6 0,10-15 0,-8 9 0,3-2 0,1-2 0,1-2 0,1-2 0,2-4 0,0-1 0,0 0 0,-2 2 0,0 2 0,-1 2 0,0 2 0,0 0 0,-1 3 0,-1 1 0,-2 3 0,-1 1 0,0 0 0,0-1 0,1-3 0,0 0 0,0-1 0,1 1 0,-1 1 0,0-2 0,0-1 0,1-2 0,0-1 0,-1 3 0,-1 4 0,-2 6 0,-3 4 0,-9 22 0,1-4 0,-9 15 0,4-11 0,1 0 0,-1 2 0,-1 0 0,0 0 0,1-1 0,2-4 0,2-3 0,2-5 0,3-4 0,0-2 0,-3 2 0,0-1 0,-5 3 0,3 0 0,1-2 0,4-2 0,12-15 0,-6 7 0,8-9 0,-9 10 0,-1 2 0,0 16 0,0-8 0,0 14 0,-3-9 0,-3 7 0,-3 7 0,-4 5 0,1-2 0,2-6 0,2-8 0,4-5 0,0-3 0,-1 1 0,0 0 0,0 1 0,1 0 0,0-2 0,1-1 0,-1 0 0,-1 0 0,-2 3 0,0 2 0,-1 3 0,-1-1 0,2-1 0,1-3 0,2-2 0,1-3 0,-3-10 0,3 4 0,-3-8 0,5 7 0,0 1 0,2-4 0,-1 3 0,1-2 0,-1 0 0,0 1 0,-1-1 0,3 2 0,2 2 0,0 0 0,1 1 0,-2-1 0,-1-2 0,2 0 0,-1-2 0,1 1 0,-1 0 0,1 0 0,-1-1 0,1 1 0,-2 1 0,0 0 0,0-2 0,0 1 0,-1-1 0,0 1 0,-2 0 0,-10 6 0,4-1 0,-7 6 0,7-2 0,1 0 0,1-1 0,1 2 0,1-1 0,-1 1 0,9 1 0,-6-2 0,8 2 0,-5 0 0,-2-1 0,1 1 0,0-1 0,-1-1 0,2 1 0,2-3 0,0 0 0,1-2 0,-1 0 0,-19 0 0,11 0 0,-15 0 0,15-1 0,0 0 0,-3-2 0,3 0 0,-2-2 0,17 4 0,-7-1 0,12 3 0,-12-1 0,-1 0 0,2 0 0,-1 0 0,1 1 0,5 1 0,1 1 0,2 0 0,-2 0 0,-5-1 0,-3-1 0,5-1 0,0 1 0,6 0 0,3 1 0,7 2 0,7 0 0,5-1 0,2 0 0,-8-2 0,-10 0 0,-9-1 0,-8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10.03.2026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10.03.2026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10.03.2026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10.03.2026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10.03.2026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10.03.2026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10.03.2026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68526"/>
            <a:ext cx="7924800" cy="1679575"/>
          </a:xfrm>
        </p:spPr>
        <p:txBody>
          <a:bodyPr/>
          <a:lstStyle/>
          <a:p>
            <a:r>
              <a:t>AI/RAG-Based Live GTU Q&amp;A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dirty="0"/>
              <a:t>CSE 496</a:t>
            </a:r>
          </a:p>
          <a:p>
            <a:pPr>
              <a:defRPr sz="2000"/>
            </a:pPr>
            <a:r>
              <a:rPr dirty="0"/>
              <a:t>First Presentation</a:t>
            </a:r>
            <a:endParaRPr lang="tr-TR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lang="tr-TR" dirty="0"/>
              <a:t>Ömer Fehmi Çakıcı</a:t>
            </a: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Advisor: </a:t>
            </a:r>
            <a:r>
              <a:rPr lang="tr-TR" dirty="0"/>
              <a:t>Mehmet Göktürk</a:t>
            </a:r>
            <a:endParaRPr dirty="0"/>
          </a:p>
          <a:p>
            <a:pPr>
              <a:defRPr sz="2000"/>
            </a:pPr>
            <a:r>
              <a:rPr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Contents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6169" y="1409700"/>
            <a:ext cx="11637547" cy="29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400" b="0"/>
            </a:pPr>
            <a:r>
              <a:rPr sz="2800" dirty="0"/>
              <a:t>• Project Definition</a:t>
            </a:r>
          </a:p>
          <a:p>
            <a:pPr>
              <a:spcAft>
                <a:spcPts val="600"/>
              </a:spcAft>
              <a:defRPr sz="2400" b="0"/>
            </a:pPr>
            <a:r>
              <a:rPr sz="2800" dirty="0"/>
              <a:t>• Project Design</a:t>
            </a:r>
          </a:p>
          <a:p>
            <a:pPr>
              <a:spcAft>
                <a:spcPts val="600"/>
              </a:spcAft>
              <a:defRPr sz="2400" b="0"/>
            </a:pPr>
            <a:r>
              <a:rPr sz="2800" dirty="0"/>
              <a:t>• Project Requirements</a:t>
            </a:r>
          </a:p>
          <a:p>
            <a:pPr>
              <a:spcAft>
                <a:spcPts val="600"/>
              </a:spcAft>
              <a:defRPr sz="2400" b="0"/>
            </a:pPr>
            <a:r>
              <a:rPr sz="2800" dirty="0"/>
              <a:t>• Success Criteria</a:t>
            </a:r>
            <a:endParaRPr lang="en-US" sz="2800" dirty="0"/>
          </a:p>
          <a:p>
            <a:pPr>
              <a:spcAft>
                <a:spcPts val="600"/>
              </a:spcAft>
              <a:defRPr sz="2400" b="0"/>
            </a:pPr>
            <a:r>
              <a:rPr lang="en-US" sz="2800" dirty="0"/>
              <a:t>• Project Timeline (with monthly granularity)</a:t>
            </a:r>
          </a:p>
          <a:p>
            <a:pPr>
              <a:spcAft>
                <a:spcPts val="600"/>
              </a:spcAft>
              <a:defRPr sz="2400" b="0"/>
            </a:pPr>
            <a:r>
              <a:rPr sz="2800" dirty="0"/>
              <a:t>• References</a:t>
            </a:r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/>
              <a:t>Project Definition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98" y="1518081"/>
            <a:ext cx="5040793" cy="3457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0000" y="1500000"/>
            <a:ext cx="5200000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sz="2400" dirty="0"/>
              <a:t>• Receives questions from YouTube live chat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• Searches GTU official web pages and PDF documents</a:t>
            </a:r>
          </a:p>
          <a:p>
            <a:pPr>
              <a:spcAft>
                <a:spcPts val="600"/>
              </a:spcAft>
              <a:defRPr sz="1800" b="0"/>
            </a:pPr>
            <a:r>
              <a:rPr sz="2400" dirty="0"/>
              <a:t>• Produces Turkish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5200000"/>
            <a:ext cx="108000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/>
            </a:pPr>
            <a:r>
              <a:rPr sz="2200" dirty="0"/>
              <a:t>• This project builds a live question-answering assistant for GTU candidates and students. It focuses on reliable, document-grounded answer</a:t>
            </a:r>
            <a:r>
              <a:rPr lang="tr-TR" sz="2200" dirty="0"/>
              <a:t>s.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Design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4" y="1661252"/>
            <a:ext cx="7481455" cy="4208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00000" y="1500000"/>
            <a:ext cx="4200000" cy="4078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/>
            </a:pPr>
            <a:r>
              <a:rPr sz="2000" dirty="0"/>
              <a:t>• </a:t>
            </a:r>
            <a:r>
              <a:rPr sz="2000" dirty="0" err="1"/>
              <a:t>Next.js</a:t>
            </a:r>
            <a:r>
              <a:rPr sz="2000" dirty="0"/>
              <a:t> frontend shows live Q&amp;A and admin pages</a:t>
            </a:r>
          </a:p>
          <a:p>
            <a:pPr>
              <a:spcAft>
                <a:spcPts val="600"/>
              </a:spcAft>
              <a:defRPr sz="1700" b="0"/>
            </a:pPr>
            <a:r>
              <a:rPr sz="2000" dirty="0"/>
              <a:t>• </a:t>
            </a:r>
            <a:r>
              <a:rPr sz="2000" dirty="0" err="1"/>
              <a:t>FastAPI</a:t>
            </a:r>
            <a:r>
              <a:rPr sz="2000" dirty="0"/>
              <a:t> provides ingest, retrieval and answer APIs</a:t>
            </a:r>
          </a:p>
          <a:p>
            <a:pPr>
              <a:spcAft>
                <a:spcPts val="600"/>
              </a:spcAft>
              <a:defRPr sz="1700" b="0"/>
            </a:pPr>
            <a:r>
              <a:rPr sz="2000" dirty="0"/>
              <a:t>• A worker polls YouTube live chat and removes duplicates</a:t>
            </a:r>
          </a:p>
          <a:p>
            <a:pPr>
              <a:spcAft>
                <a:spcPts val="600"/>
              </a:spcAft>
              <a:defRPr sz="1700" b="0"/>
            </a:pPr>
            <a:r>
              <a:rPr sz="2000" dirty="0"/>
              <a:t>• PostgreSQL + </a:t>
            </a:r>
            <a:r>
              <a:rPr sz="2000" dirty="0" err="1"/>
              <a:t>pgvector</a:t>
            </a:r>
            <a:r>
              <a:rPr sz="2000" dirty="0"/>
              <a:t> stores chunks and answer traces</a:t>
            </a:r>
          </a:p>
          <a:p>
            <a:pPr>
              <a:spcAft>
                <a:spcPts val="600"/>
              </a:spcAft>
              <a:defRPr sz="1700" b="0"/>
            </a:pPr>
            <a:r>
              <a:rPr sz="2000" dirty="0"/>
              <a:t>• Redis supports queueing/cache and improves reliability</a:t>
            </a:r>
          </a:p>
          <a:p>
            <a:pPr>
              <a:spcAft>
                <a:spcPts val="600"/>
              </a:spcAft>
              <a:defRPr sz="1700" b="0"/>
            </a:pPr>
            <a:r>
              <a:rPr sz="2000" dirty="0"/>
              <a:t>• The system is deployed on a VPS with Docker Compose and HTTPS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B77E7A-BDA5-FA1A-0373-7EAA6FE244C7}"/>
                  </a:ext>
                </a:extLst>
              </p14:cNvPr>
              <p14:cNvContentPartPr/>
              <p14:nvPr/>
            </p14:nvContentPartPr>
            <p14:xfrm>
              <a:off x="4806507" y="5163827"/>
              <a:ext cx="170640" cy="1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B77E7A-BDA5-FA1A-0373-7EAA6FE244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7867" y="5155187"/>
                <a:ext cx="188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BAD4ABF-593A-D994-12A1-F8BF5D6A9CBB}"/>
                  </a:ext>
                </a:extLst>
              </p14:cNvPr>
              <p14:cNvContentPartPr/>
              <p14:nvPr/>
            </p14:nvContentPartPr>
            <p14:xfrm>
              <a:off x="4817667" y="5117027"/>
              <a:ext cx="323640" cy="60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BAD4ABF-593A-D994-12A1-F8BF5D6A9C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09027" y="5108027"/>
                <a:ext cx="3412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122D540-2CFD-E720-B0B7-7D793B37DDEE}"/>
                  </a:ext>
                </a:extLst>
              </p14:cNvPr>
              <p14:cNvContentPartPr/>
              <p14:nvPr/>
            </p14:nvContentPartPr>
            <p14:xfrm>
              <a:off x="4905147" y="5087867"/>
              <a:ext cx="177120" cy="88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122D540-2CFD-E720-B0B7-7D793B37DD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6507" y="5078867"/>
                <a:ext cx="194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6972EC-427B-05F1-C75C-07FC759212C4}"/>
                  </a:ext>
                </a:extLst>
              </p14:cNvPr>
              <p14:cNvContentPartPr/>
              <p14:nvPr/>
            </p14:nvContentPartPr>
            <p14:xfrm>
              <a:off x="5142582" y="5120911"/>
              <a:ext cx="7560" cy="59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6972EC-427B-05F1-C75C-07FC759212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3942" y="5112271"/>
                <a:ext cx="252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ED7948-505F-E350-2994-B9DC14A6476D}"/>
                  </a:ext>
                </a:extLst>
              </p14:cNvPr>
              <p14:cNvContentPartPr/>
              <p14:nvPr/>
            </p14:nvContentPartPr>
            <p14:xfrm>
              <a:off x="1638504" y="4267109"/>
              <a:ext cx="342360" cy="140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ED7948-505F-E350-2994-B9DC14A647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29504" y="4258109"/>
                <a:ext cx="36000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FD0320F-E321-EF3A-2B73-D58AC21D067B}"/>
              </a:ext>
            </a:extLst>
          </p:cNvPr>
          <p:cNvGrpSpPr/>
          <p:nvPr/>
        </p:nvGrpSpPr>
        <p:grpSpPr>
          <a:xfrm>
            <a:off x="1475784" y="4059749"/>
            <a:ext cx="1009440" cy="460440"/>
            <a:chOff x="1475784" y="4059749"/>
            <a:chExt cx="100944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68F72C-17E8-ACB3-10EE-C58431CFFB37}"/>
                    </a:ext>
                  </a:extLst>
                </p14:cNvPr>
                <p14:cNvContentPartPr/>
                <p14:nvPr/>
              </p14:nvContentPartPr>
              <p14:xfrm>
                <a:off x="1724184" y="4434149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68F72C-17E8-ACB3-10EE-C58431CFFB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06544" y="441614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826698-7C1A-50BA-6958-7E06FAEB4AEF}"/>
                    </a:ext>
                  </a:extLst>
                </p14:cNvPr>
                <p14:cNvContentPartPr/>
                <p14:nvPr/>
              </p14:nvContentPartPr>
              <p14:xfrm>
                <a:off x="1610424" y="4157669"/>
                <a:ext cx="193680" cy="155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826698-7C1A-50BA-6958-7E06FAEB4A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92424" y="4140029"/>
                  <a:ext cx="229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5A5492-2FBB-F880-7614-134CF0B4CF16}"/>
                    </a:ext>
                  </a:extLst>
                </p14:cNvPr>
                <p14:cNvContentPartPr/>
                <p14:nvPr/>
              </p14:nvContentPartPr>
              <p14:xfrm>
                <a:off x="1482624" y="4059749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5A5492-2FBB-F880-7614-134CF0B4CF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46624" y="402374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3C0EE7-BE9A-0619-7337-A13179B0B587}"/>
                    </a:ext>
                  </a:extLst>
                </p14:cNvPr>
                <p14:cNvContentPartPr/>
                <p14:nvPr/>
              </p14:nvContentPartPr>
              <p14:xfrm>
                <a:off x="1475784" y="4134269"/>
                <a:ext cx="1009440" cy="38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3C0EE7-BE9A-0619-7337-A13179B0B58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39784" y="4098629"/>
                  <a:ext cx="1081080" cy="45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495A5F1-BEB3-B0C1-7B7A-5104993D0F5F}"/>
                  </a:ext>
                </a:extLst>
              </p14:cNvPr>
              <p14:cNvContentPartPr/>
              <p14:nvPr/>
            </p14:nvContentPartPr>
            <p14:xfrm>
              <a:off x="2747664" y="4128509"/>
              <a:ext cx="1047240" cy="505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495A5F1-BEB3-B0C1-7B7A-5104993D0F5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11664" y="4092509"/>
                <a:ext cx="111888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A9E094A-05B6-3970-E65C-4DCE69735FBF}"/>
                  </a:ext>
                </a:extLst>
              </p14:cNvPr>
              <p14:cNvContentPartPr/>
              <p14:nvPr/>
            </p14:nvContentPartPr>
            <p14:xfrm>
              <a:off x="3728952" y="4272880"/>
              <a:ext cx="9360" cy="10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A9E094A-05B6-3970-E65C-4DCE69735FB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93312" y="4237240"/>
                <a:ext cx="810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29E5831-8649-815C-2CD7-BFFEB4579D4E}"/>
                  </a:ext>
                </a:extLst>
              </p14:cNvPr>
              <p14:cNvContentPartPr/>
              <p14:nvPr/>
            </p14:nvContentPartPr>
            <p14:xfrm>
              <a:off x="3933432" y="4179280"/>
              <a:ext cx="2116440" cy="289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29E5831-8649-815C-2CD7-BFFEB4579D4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897432" y="4143640"/>
                <a:ext cx="21880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572D513-E3D4-8440-A794-55F16F3D4A32}"/>
                  </a:ext>
                </a:extLst>
              </p14:cNvPr>
              <p14:cNvContentPartPr/>
              <p14:nvPr/>
            </p14:nvContentPartPr>
            <p14:xfrm>
              <a:off x="3926952" y="4217800"/>
              <a:ext cx="109080" cy="1144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572D513-E3D4-8440-A794-55F16F3D4A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91312" y="4181800"/>
                <a:ext cx="1807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B6C330-16D6-E2D8-D443-4455B0578D1D}"/>
                  </a:ext>
                </a:extLst>
              </p14:cNvPr>
              <p14:cNvContentPartPr/>
              <p14:nvPr/>
            </p14:nvContentPartPr>
            <p14:xfrm>
              <a:off x="2653360" y="4194280"/>
              <a:ext cx="146520" cy="2023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B6C330-16D6-E2D8-D443-4455B0578D1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17720" y="4158280"/>
                <a:ext cx="218160" cy="273960"/>
              </a:xfrm>
              <a:prstGeom prst="rect">
                <a:avLst/>
              </a:prstGeom>
            </p:spPr>
          </p:pic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1A9D9C-15F1-8808-2146-0148CD9FD214}"/>
              </a:ext>
            </a:extLst>
          </p:cNvPr>
          <p:cNvCxnSpPr/>
          <p:nvPr/>
        </p:nvCxnSpPr>
        <p:spPr>
          <a:xfrm flipV="1">
            <a:off x="2412056" y="3832004"/>
            <a:ext cx="431705" cy="8702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0DDE6C-16D6-A487-3190-23D175F75749}"/>
              </a:ext>
            </a:extLst>
          </p:cNvPr>
          <p:cNvCxnSpPr>
            <a:cxnSpLocks/>
          </p:cNvCxnSpPr>
          <p:nvPr/>
        </p:nvCxnSpPr>
        <p:spPr>
          <a:xfrm flipH="1" flipV="1">
            <a:off x="3389971" y="3832004"/>
            <a:ext cx="838389" cy="7622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/>
              <a:t>Project </a:t>
            </a:r>
            <a:r>
              <a:rPr lang="tr-TR" err="1"/>
              <a:t>Requirements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6169" y="1409700"/>
            <a:ext cx="11637547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0"/>
            </a:pPr>
            <a:r>
              <a:rPr dirty="0"/>
              <a:t>• Software: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Next.js</a:t>
            </a:r>
            <a:r>
              <a:rPr dirty="0"/>
              <a:t>, PostgreSQL + </a:t>
            </a:r>
            <a:r>
              <a:rPr dirty="0" err="1"/>
              <a:t>pgvector</a:t>
            </a:r>
            <a:r>
              <a:rPr dirty="0"/>
              <a:t>, Redis, Docker Compose, LLM API, embedding service</a:t>
            </a:r>
          </a:p>
          <a:p>
            <a:pPr>
              <a:spcAft>
                <a:spcPts val="600"/>
              </a:spcAft>
              <a:defRPr sz="1900" b="0"/>
            </a:pPr>
            <a:r>
              <a:rPr dirty="0"/>
              <a:t>• Hardware / Infrastructure: Linux VPS for deployment</a:t>
            </a:r>
          </a:p>
          <a:p>
            <a:pPr>
              <a:spcAft>
                <a:spcPts val="600"/>
              </a:spcAft>
              <a:defRPr sz="1900" b="0"/>
            </a:pPr>
            <a:r>
              <a:rPr dirty="0"/>
              <a:t>• Data: GTU official web pages, GTU PDF documents, evaluation question set, crawl seed URLs and metadata</a:t>
            </a:r>
          </a:p>
          <a:p>
            <a:pPr>
              <a:spcAft>
                <a:spcPts val="600"/>
              </a:spcAft>
              <a:defRPr sz="1900" b="0"/>
            </a:pPr>
            <a:r>
              <a:rPr dirty="0"/>
              <a:t>• Other resources: YouTube live stream access, admin credentials, logging/monitoring tools, documentation tools</a:t>
            </a:r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6169" y="1409700"/>
            <a:ext cx="11637547" cy="4447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/>
            </a:pPr>
            <a:r>
              <a:rPr sz="2400" dirty="0"/>
              <a:t>1. GTU official web pages and PDF documents shall be ingested and indexed into a searchable chunk store.</a:t>
            </a:r>
          </a:p>
          <a:p>
            <a:pPr>
              <a:spcAft>
                <a:spcPts val="600"/>
              </a:spcAft>
              <a:defRPr sz="1700" b="0"/>
            </a:pPr>
            <a:r>
              <a:rPr sz="2400" dirty="0"/>
              <a:t>2. In a live session, a new YouTube question shall appear in the queue within 5 seconds, and duplicate messages shall not be processed twice.</a:t>
            </a:r>
          </a:p>
          <a:p>
            <a:pPr>
              <a:spcAft>
                <a:spcPts val="600"/>
              </a:spcAft>
              <a:defRPr sz="1700" b="0"/>
            </a:pPr>
            <a:r>
              <a:rPr sz="2400" dirty="0"/>
              <a:t>3. On a 50-question GTU evaluation set, a relevant source shall appear in the top-5 retrieval results for at least 80% of the questions.</a:t>
            </a:r>
          </a:p>
          <a:p>
            <a:pPr>
              <a:spcAft>
                <a:spcPts val="600"/>
              </a:spcAft>
              <a:defRPr sz="1700" b="0"/>
            </a:pPr>
            <a:r>
              <a:rPr sz="2400" dirty="0"/>
              <a:t>4. End-to-end answer latency on the VPS shall be P50 ≤ 8 seconds and P95 ≤ 15 seconds under demo load.</a:t>
            </a:r>
          </a:p>
          <a:p>
            <a:pPr>
              <a:spcAft>
                <a:spcPts val="600"/>
              </a:spcAft>
              <a:defRPr sz="1700" b="0"/>
            </a:pPr>
            <a:r>
              <a:rPr sz="2400" dirty="0"/>
              <a:t>5. For low-confidence or off-topic questions, the system shall return a clear limitation message instead of fabricating an answer.</a:t>
            </a:r>
          </a:p>
          <a:p>
            <a:pPr>
              <a:spcAft>
                <a:spcPts val="600"/>
              </a:spcAft>
              <a:defRPr sz="1700" b="0"/>
            </a:pPr>
            <a:r>
              <a:rPr sz="2400" dirty="0"/>
              <a:t>6. The final product shall be reachable through </a:t>
            </a:r>
            <a:r>
              <a:rPr lang="en-US" sz="2400" dirty="0"/>
              <a:t>YouTube Live Chat, not from an IDE.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 Timeline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44" y="1401500"/>
            <a:ext cx="9957312" cy="4711942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93FD6A-5FEF-96E6-CC57-85E4B370E328}"/>
              </a:ext>
            </a:extLst>
          </p:cNvPr>
          <p:cNvSpPr/>
          <p:nvPr/>
        </p:nvSpPr>
        <p:spPr>
          <a:xfrm>
            <a:off x="1246909" y="4592782"/>
            <a:ext cx="1302327" cy="31865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0B512-569F-3E62-0443-2E2F1C65415A}"/>
              </a:ext>
            </a:extLst>
          </p:cNvPr>
          <p:cNvSpPr txBox="1"/>
          <p:nvPr/>
        </p:nvSpPr>
        <p:spPr>
          <a:xfrm>
            <a:off x="1378526" y="4613565"/>
            <a:ext cx="1122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1200" dirty="0"/>
              <a:t>Admin panel</a:t>
            </a:r>
          </a:p>
        </p:txBody>
      </p:sp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09.03.2026</a:t>
            </a:r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6169" y="1409700"/>
            <a:ext cx="11637547" cy="333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/>
            </a:pPr>
            <a:r>
              <a:rPr sz="2400" dirty="0"/>
              <a:t>1. Lewis, P. et al., “Retrieval-Augmented Generation for Knowledge-Intensive NLP Tasks,” </a:t>
            </a:r>
            <a:r>
              <a:rPr sz="2400" dirty="0" err="1"/>
              <a:t>NeurIPS</a:t>
            </a:r>
            <a:r>
              <a:rPr sz="2400" dirty="0"/>
              <a:t> 2020.</a:t>
            </a:r>
          </a:p>
          <a:p>
            <a:pPr>
              <a:spcAft>
                <a:spcPts val="600"/>
              </a:spcAft>
              <a:defRPr sz="1600" b="0"/>
            </a:pPr>
            <a:r>
              <a:rPr sz="2400" dirty="0"/>
              <a:t>2. </a:t>
            </a:r>
            <a:r>
              <a:rPr sz="2400" dirty="0" err="1"/>
              <a:t>Karpukhin</a:t>
            </a:r>
            <a:r>
              <a:rPr sz="2400" dirty="0"/>
              <a:t>, V. et al., “Dense Passage Retrieval for Open-Domain Question Answering,” EMNLP 2020.</a:t>
            </a:r>
          </a:p>
          <a:p>
            <a:pPr>
              <a:spcAft>
                <a:spcPts val="600"/>
              </a:spcAft>
              <a:defRPr sz="1600" b="0"/>
            </a:pPr>
            <a:r>
              <a:rPr sz="2400" dirty="0"/>
              <a:t>3. </a:t>
            </a:r>
            <a:r>
              <a:rPr sz="2400" dirty="0" err="1"/>
              <a:t>FastAPI</a:t>
            </a:r>
            <a:r>
              <a:rPr sz="2400" dirty="0"/>
              <a:t> Documentation, official website, 2026.</a:t>
            </a:r>
          </a:p>
          <a:p>
            <a:pPr>
              <a:spcAft>
                <a:spcPts val="600"/>
              </a:spcAft>
              <a:defRPr sz="1600" b="0"/>
            </a:pPr>
            <a:r>
              <a:rPr sz="2400" dirty="0"/>
              <a:t>4. </a:t>
            </a:r>
            <a:r>
              <a:rPr sz="2400" dirty="0" err="1"/>
              <a:t>Next.js</a:t>
            </a:r>
            <a:r>
              <a:rPr sz="2400" dirty="0"/>
              <a:t> Documentation, official website, 2026.</a:t>
            </a:r>
          </a:p>
          <a:p>
            <a:pPr>
              <a:spcAft>
                <a:spcPts val="600"/>
              </a:spcAft>
              <a:defRPr sz="1600" b="0"/>
            </a:pPr>
            <a:r>
              <a:rPr sz="2400" dirty="0"/>
              <a:t>5. </a:t>
            </a:r>
            <a:r>
              <a:rPr sz="2400" dirty="0" err="1"/>
              <a:t>pgvector</a:t>
            </a:r>
            <a:r>
              <a:rPr sz="2400" dirty="0"/>
              <a:t> Documentation, official website, 2026.</a:t>
            </a:r>
          </a:p>
          <a:p>
            <a:pPr>
              <a:spcAft>
                <a:spcPts val="600"/>
              </a:spcAft>
              <a:defRPr sz="1600" b="0"/>
            </a:pPr>
            <a:r>
              <a:rPr sz="2400" dirty="0"/>
              <a:t>6. YouTube Data API, Live Chat Messages Documentation, Google Developers, 2026.</a:t>
            </a:r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3C0A045D344B4BBDC56C76E990F8D0" ma:contentTypeVersion="4" ma:contentTypeDescription="Create a new document." ma:contentTypeScope="" ma:versionID="baea659cbc4e684056177b1ae579795a">
  <xsd:schema xmlns:xsd="http://www.w3.org/2001/XMLSchema" xmlns:xs="http://www.w3.org/2001/XMLSchema" xmlns:p="http://schemas.microsoft.com/office/2006/metadata/properties" xmlns:ns2="e8e2c775-fda5-4174-937f-24b4851fe4ce" targetNamespace="http://schemas.microsoft.com/office/2006/metadata/properties" ma:root="true" ma:fieldsID="e4c92143834fbf950d8b91354764172d" ns2:_="">
    <xsd:import namespace="e8e2c775-fda5-4174-937f-24b4851fe4c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2c775-fda5-4174-937f-24b4851fe4c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8e2c775-fda5-4174-937f-24b4851fe4c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04F5BD-B6D0-45EF-8031-C86AE12739AE}"/>
</file>

<file path=customXml/itemProps2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507</Words>
  <Application>Microsoft Macintosh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Narrow</vt:lpstr>
      <vt:lpstr>Calibri</vt:lpstr>
      <vt:lpstr>GTU-ŞABLON-1</vt:lpstr>
      <vt:lpstr>AI/RAG-Based Live GTU Q&amp;A System</vt:lpstr>
      <vt:lpstr>Contents</vt:lpstr>
      <vt:lpstr>Project Definition</vt:lpstr>
      <vt:lpstr>Project Design</vt:lpstr>
      <vt:lpstr>Project Requirements</vt:lpstr>
      <vt:lpstr>Success Criteria</vt:lpstr>
      <vt:lpstr>Project Timeline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ÖMER FEHMİ ÇAKICI</cp:lastModifiedBy>
  <cp:revision>2</cp:revision>
  <dcterms:created xsi:type="dcterms:W3CDTF">2015-02-28T16:59:24Z</dcterms:created>
  <dcterms:modified xsi:type="dcterms:W3CDTF">2026-03-10T16:00:47Z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0x0101000A3C0A045D344B4BBDC56C76E990F8D0</vt:lpwstr>
  </property>
</Properties>
</file>