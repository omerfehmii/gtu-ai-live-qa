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1" r:id="rId7"/>
    <p:sldId id="262" r:id="rId8"/>
    <p:sldId id="263" r:id="rId9"/>
    <p:sldId id="264" r:id="rId10"/>
    <p:sldId id="271" r:id="rId11"/>
    <p:sldId id="265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347D66-FD62-E500-07B5-F7239A5E1E38}" v="26" dt="2026-03-09T08:13:19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54"/>
  </p:normalViewPr>
  <p:slideViewPr>
    <p:cSldViewPr snapToGrid="0">
      <p:cViewPr varScale="1">
        <p:scale>
          <a:sx n="102" d="100"/>
          <a:sy n="102" d="100"/>
        </p:scale>
        <p:origin x="74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İSMAİL KABAK" userId="S::i.kabak2019@gtu.edu.tr::f508540d-6b2f-4245-9e48-696165ec4a7c" providerId="AD" clId="Web-{B0347D66-FD62-E500-07B5-F7239A5E1E38}"/>
    <pc:docChg chg="modSld">
      <pc:chgData name="İSMAİL KABAK" userId="S::i.kabak2019@gtu.edu.tr::f508540d-6b2f-4245-9e48-696165ec4a7c" providerId="AD" clId="Web-{B0347D66-FD62-E500-07B5-F7239A5E1E38}" dt="2026-03-09T08:13:19.404" v="25" actId="20577"/>
      <pc:docMkLst>
        <pc:docMk/>
      </pc:docMkLst>
      <pc:sldChg chg="modSp">
        <pc:chgData name="İSMAİL KABAK" userId="S::i.kabak2019@gtu.edu.tr::f508540d-6b2f-4245-9e48-696165ec4a7c" providerId="AD" clId="Web-{B0347D66-FD62-E500-07B5-F7239A5E1E38}" dt="2026-03-09T08:13:19.404" v="25" actId="20577"/>
        <pc:sldMkLst>
          <pc:docMk/>
          <pc:sldMk cId="2513430175" sldId="256"/>
        </pc:sldMkLst>
        <pc:spChg chg="mod">
          <ac:chgData name="İSMAİL KABAK" userId="S::i.kabak2019@gtu.edu.tr::f508540d-6b2f-4245-9e48-696165ec4a7c" providerId="AD" clId="Web-{B0347D66-FD62-E500-07B5-F7239A5E1E38}" dt="2026-03-09T08:13:19.404" v="25" actId="20577"/>
          <ac:spMkLst>
            <pc:docMk/>
            <pc:sldMk cId="2513430175" sldId="256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28.04.2026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28.04.2026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28.04.2026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28.04.2026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28.04.2026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28.04.2026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68526"/>
            <a:ext cx="7924800" cy="1679575"/>
          </a:xfrm>
        </p:spPr>
        <p:txBody>
          <a:bodyPr/>
          <a:lstStyle/>
          <a:p>
            <a:r>
              <a:rPr lang="en-US" dirty="0"/>
              <a:t>AI/RAG-Based Live GTU Q&amp;A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653408"/>
            <a:ext cx="7137400" cy="243667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CSE 496</a:t>
            </a:r>
            <a:endParaRPr lang="tr-TR" dirty="0"/>
          </a:p>
          <a:p>
            <a:r>
              <a:rPr lang="en-US" dirty="0"/>
              <a:t>Second Presentation</a:t>
            </a:r>
            <a:endParaRPr lang="tr-TR" dirty="0"/>
          </a:p>
          <a:p>
            <a:endParaRPr lang="tr-TR" dirty="0"/>
          </a:p>
          <a:p>
            <a:r>
              <a:rPr lang="en-US" dirty="0"/>
              <a:t>Ömer Fehmi Çakıcı</a:t>
            </a:r>
            <a:endParaRPr lang="tr-TR" dirty="0"/>
          </a:p>
          <a:p>
            <a:endParaRPr lang="tr-TR" dirty="0"/>
          </a:p>
          <a:p>
            <a:r>
              <a:rPr lang="en-US" dirty="0"/>
              <a:t>Advisor: </a:t>
            </a:r>
            <a:r>
              <a:rPr lang="tr-TR" dirty="0"/>
              <a:t>Mehmet Göktürk</a:t>
            </a:r>
          </a:p>
          <a:p>
            <a:r>
              <a:rPr lang="en-US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A2A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Progress since the first meeting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2A2A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Current backend and RAG implementation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2A2A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Broadcast UI, avatar, TTS and lip-sync work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2A2A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Next steps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2A2A2A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References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AE15-0C4A-9243-A998-FED59F87DB60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Progress Since the First Meeting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3</a:t>
            </a:fld>
            <a:endParaRPr lang="en-US"/>
          </a:p>
        </p:txBody>
      </p:sp>
      <p:sp>
        <p:nvSpPr>
          <p:cNvPr id="8" name="İçerik Yer Tutucusu 2"/>
          <p:cNvSpPr txBox="1">
            <a:spLocks/>
          </p:cNvSpPr>
          <p:nvPr/>
        </p:nvSpPr>
        <p:spPr>
          <a:xfrm>
            <a:off x="286170" y="1409700"/>
            <a:ext cx="11637546" cy="3702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Backend RAG pipeline was implemented: ingest, archive, chunking, embeddings, retrieval and answer traces.</a:t>
            </a:r>
          </a:p>
          <a:p>
            <a:r>
              <a:rPr lang="en-US" sz="2500" dirty="0"/>
              <a:t>Admin panel was extended for GTU source management, YouTube stream connection and runtime TTS control.</a:t>
            </a:r>
          </a:p>
          <a:p>
            <a:r>
              <a:rPr lang="en-US" sz="2500" dirty="0"/>
              <a:t>Live broadcast screen was designed around a presenter avatar, active question and current answer.</a:t>
            </a:r>
          </a:p>
          <a:p>
            <a:r>
              <a:rPr lang="en-US" sz="2500" dirty="0"/>
              <a:t>3D avatar loading, camera framing, mouth animation and TTS synchronization were prototyped.</a:t>
            </a:r>
          </a:p>
          <a:p>
            <a:r>
              <a:rPr lang="en-US" sz="2500" dirty="0"/>
              <a:t>Worker/service flow developed so queued questions are processed continuously.</a:t>
            </a:r>
          </a:p>
        </p:txBody>
      </p:sp>
    </p:spTree>
    <p:extLst>
      <p:ext uri="{BB962C8B-B14F-4D97-AF65-F5344CB8AC3E}">
        <p14:creationId xmlns:p14="http://schemas.microsoft.com/office/powerpoint/2010/main" val="20477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Current System Architecture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4</a:t>
            </a:fld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8C8D6C27-281A-9171-3AC4-24ECE38A6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04" y="2878119"/>
            <a:ext cx="11487876" cy="110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3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Backend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RAG </a:t>
            </a:r>
            <a:r>
              <a:rPr lang="tr-TR" dirty="0" err="1"/>
              <a:t>Implementation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GTU web/PDF ingest supports seed URLs, PDF URLs, sitemap discovery and cached source archives.</a:t>
            </a:r>
          </a:p>
          <a:p>
            <a:r>
              <a:rPr lang="en-US" sz="2500" dirty="0"/>
              <a:t>Documents are converted into chunks and indexed with embeddings for semantic retrieval.</a:t>
            </a:r>
          </a:p>
          <a:p>
            <a:r>
              <a:rPr lang="en-US" sz="2500" dirty="0"/>
              <a:t>Retrieval combines vector similarity with keyword/string relevance and document quality penalties.</a:t>
            </a:r>
          </a:p>
          <a:p>
            <a:r>
              <a:rPr lang="en-US" sz="2500" dirty="0"/>
              <a:t>Answer generation uses a GTU-specific system prompt and keeps source traces internally.</a:t>
            </a:r>
          </a:p>
          <a:p>
            <a:r>
              <a:rPr lang="en-US" sz="2500" dirty="0"/>
              <a:t>Fallback behavior is implemented for missing API keys or weak context instead of fabricating details.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7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Live Broadcast UI, Avatar </a:t>
            </a:r>
            <a:r>
              <a:rPr lang="tr-TR" dirty="0" err="1"/>
              <a:t>and</a:t>
            </a:r>
            <a:r>
              <a:rPr lang="tr-TR" dirty="0"/>
              <a:t> TTS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51373" y="1409700"/>
            <a:ext cx="5572343" cy="4991100"/>
          </a:xfrm>
        </p:spPr>
        <p:txBody>
          <a:bodyPr>
            <a:normAutofit fontScale="92500" lnSpcReduction="10000"/>
          </a:bodyPr>
          <a:lstStyle/>
          <a:p>
            <a:r>
              <a:rPr lang="tr-TR" sz="2300" dirty="0" err="1"/>
              <a:t>The</a:t>
            </a:r>
            <a:r>
              <a:rPr lang="tr-TR" sz="2300" dirty="0"/>
              <a:t> </a:t>
            </a:r>
            <a:r>
              <a:rPr lang="tr-TR" sz="2300" dirty="0" err="1"/>
              <a:t>live</a:t>
            </a:r>
            <a:r>
              <a:rPr lang="tr-TR" sz="2300" dirty="0"/>
              <a:t> </a:t>
            </a:r>
            <a:r>
              <a:rPr lang="tr-TR" sz="2300" dirty="0" err="1"/>
              <a:t>page</a:t>
            </a:r>
            <a:r>
              <a:rPr lang="tr-TR" sz="2300" dirty="0"/>
              <a:t> </a:t>
            </a:r>
            <a:r>
              <a:rPr lang="tr-TR" sz="2300" dirty="0" err="1"/>
              <a:t>was</a:t>
            </a:r>
            <a:r>
              <a:rPr lang="tr-TR" sz="2300" dirty="0"/>
              <a:t> </a:t>
            </a:r>
            <a:r>
              <a:rPr lang="tr-TR" sz="2300" dirty="0" err="1"/>
              <a:t>designed</a:t>
            </a:r>
            <a:r>
              <a:rPr lang="tr-TR" sz="2300" dirty="0"/>
              <a:t> as a 16:9 </a:t>
            </a:r>
            <a:r>
              <a:rPr lang="tr-TR" sz="2300" dirty="0" err="1"/>
              <a:t>broadcast</a:t>
            </a:r>
            <a:r>
              <a:rPr lang="tr-TR" sz="2300" dirty="0"/>
              <a:t> </a:t>
            </a:r>
            <a:r>
              <a:rPr lang="tr-TR" sz="2300" dirty="0" err="1"/>
              <a:t>scene</a:t>
            </a:r>
            <a:r>
              <a:rPr lang="tr-TR" sz="2300" dirty="0"/>
              <a:t>: avatar </a:t>
            </a:r>
            <a:r>
              <a:rPr lang="tr-TR" sz="2300" dirty="0" err="1"/>
              <a:t>presenter</a:t>
            </a:r>
            <a:r>
              <a:rPr lang="tr-TR" sz="2300" dirty="0"/>
              <a:t> on </a:t>
            </a:r>
            <a:r>
              <a:rPr lang="tr-TR" sz="2300" dirty="0" err="1"/>
              <a:t>the</a:t>
            </a:r>
            <a:r>
              <a:rPr lang="tr-TR" sz="2300" dirty="0"/>
              <a:t> </a:t>
            </a:r>
            <a:r>
              <a:rPr lang="tr-TR" sz="2300" dirty="0" err="1"/>
              <a:t>left</a:t>
            </a:r>
            <a:r>
              <a:rPr lang="tr-TR" sz="2300" dirty="0"/>
              <a:t>, </a:t>
            </a:r>
            <a:r>
              <a:rPr lang="tr-TR" sz="2300" dirty="0" err="1"/>
              <a:t>question</a:t>
            </a:r>
            <a:r>
              <a:rPr lang="tr-TR" sz="2300" dirty="0"/>
              <a:t> </a:t>
            </a:r>
            <a:r>
              <a:rPr lang="tr-TR" sz="2300" dirty="0" err="1"/>
              <a:t>and</a:t>
            </a:r>
            <a:r>
              <a:rPr lang="tr-TR" sz="2300" dirty="0"/>
              <a:t> </a:t>
            </a:r>
            <a:r>
              <a:rPr lang="tr-TR" sz="2300" dirty="0" err="1"/>
              <a:t>answer</a:t>
            </a:r>
            <a:r>
              <a:rPr lang="tr-TR" sz="2300" dirty="0"/>
              <a:t> on </a:t>
            </a:r>
            <a:r>
              <a:rPr lang="tr-TR" sz="2300" dirty="0" err="1"/>
              <a:t>the</a:t>
            </a:r>
            <a:r>
              <a:rPr lang="tr-TR" sz="2300" dirty="0"/>
              <a:t> </a:t>
            </a:r>
            <a:r>
              <a:rPr lang="tr-TR" sz="2300" dirty="0" err="1"/>
              <a:t>right</a:t>
            </a:r>
            <a:r>
              <a:rPr lang="tr-TR" sz="2300" dirty="0"/>
              <a:t>.</a:t>
            </a:r>
          </a:p>
          <a:p>
            <a:r>
              <a:rPr lang="tr-TR" sz="2300" dirty="0"/>
              <a:t>A </a:t>
            </a:r>
            <a:r>
              <a:rPr lang="tr-TR" sz="2300" dirty="0" err="1"/>
              <a:t>rigged</a:t>
            </a:r>
            <a:r>
              <a:rPr lang="tr-TR" sz="2300" dirty="0"/>
              <a:t> 3D avatar is </a:t>
            </a:r>
            <a:r>
              <a:rPr lang="tr-TR" sz="2300" dirty="0" err="1"/>
              <a:t>loaded</a:t>
            </a:r>
            <a:r>
              <a:rPr lang="tr-TR" sz="2300" dirty="0"/>
              <a:t> in </a:t>
            </a:r>
            <a:r>
              <a:rPr lang="tr-TR" sz="2300" dirty="0" err="1"/>
              <a:t>the</a:t>
            </a:r>
            <a:r>
              <a:rPr lang="tr-TR" sz="2300" dirty="0"/>
              <a:t> browser </a:t>
            </a:r>
            <a:r>
              <a:rPr lang="tr-TR" sz="2300" dirty="0" err="1"/>
              <a:t>and</a:t>
            </a:r>
            <a:r>
              <a:rPr lang="tr-TR" sz="2300" dirty="0"/>
              <a:t> </a:t>
            </a:r>
            <a:r>
              <a:rPr lang="tr-TR" sz="2300" dirty="0" err="1"/>
              <a:t>framed</a:t>
            </a:r>
            <a:r>
              <a:rPr lang="tr-TR" sz="2300" dirty="0"/>
              <a:t> as a </a:t>
            </a:r>
            <a:r>
              <a:rPr lang="tr-TR" sz="2300" dirty="0" err="1"/>
              <a:t>presenter</a:t>
            </a:r>
            <a:r>
              <a:rPr lang="tr-TR" sz="2300" dirty="0"/>
              <a:t> </a:t>
            </a:r>
            <a:r>
              <a:rPr lang="tr-TR" sz="2300" dirty="0" err="1"/>
              <a:t>portrait</a:t>
            </a:r>
            <a:r>
              <a:rPr lang="tr-TR" sz="2300" dirty="0"/>
              <a:t>.</a:t>
            </a:r>
          </a:p>
          <a:p>
            <a:r>
              <a:rPr lang="tr-TR" sz="2300" dirty="0"/>
              <a:t>TTS </a:t>
            </a:r>
            <a:r>
              <a:rPr lang="tr-TR" sz="2300" dirty="0" err="1"/>
              <a:t>generation</a:t>
            </a:r>
            <a:r>
              <a:rPr lang="tr-TR" sz="2300" dirty="0"/>
              <a:t> </a:t>
            </a:r>
            <a:r>
              <a:rPr lang="tr-TR" sz="2300" dirty="0" err="1"/>
              <a:t>was</a:t>
            </a:r>
            <a:r>
              <a:rPr lang="tr-TR" sz="2300" dirty="0"/>
              <a:t> </a:t>
            </a:r>
            <a:r>
              <a:rPr lang="tr-TR" sz="2300" dirty="0" err="1"/>
              <a:t>integrated</a:t>
            </a:r>
            <a:r>
              <a:rPr lang="tr-TR" sz="2300" dirty="0"/>
              <a:t> </a:t>
            </a:r>
            <a:r>
              <a:rPr lang="tr-TR" sz="2300" dirty="0" err="1"/>
              <a:t>through</a:t>
            </a:r>
            <a:r>
              <a:rPr lang="tr-TR" sz="2300" dirty="0"/>
              <a:t> </a:t>
            </a:r>
            <a:r>
              <a:rPr lang="tr-TR" sz="2300" dirty="0" err="1"/>
              <a:t>OpenRouter</a:t>
            </a:r>
            <a:r>
              <a:rPr lang="tr-TR" sz="2300" dirty="0"/>
              <a:t> </a:t>
            </a:r>
            <a:r>
              <a:rPr lang="tr-TR" sz="2300" dirty="0" err="1"/>
              <a:t>using</a:t>
            </a:r>
            <a:r>
              <a:rPr lang="tr-TR" sz="2300" dirty="0"/>
              <a:t> an </a:t>
            </a:r>
            <a:r>
              <a:rPr lang="tr-TR" sz="2300" dirty="0" err="1"/>
              <a:t>OpenAI-compatible</a:t>
            </a:r>
            <a:r>
              <a:rPr lang="tr-TR" sz="2300" dirty="0"/>
              <a:t> </a:t>
            </a:r>
            <a:r>
              <a:rPr lang="tr-TR" sz="2300" dirty="0" err="1"/>
              <a:t>speech</a:t>
            </a:r>
            <a:r>
              <a:rPr lang="tr-TR" sz="2300" dirty="0"/>
              <a:t> </a:t>
            </a:r>
            <a:r>
              <a:rPr lang="tr-TR" sz="2300" dirty="0" err="1"/>
              <a:t>endpoint</a:t>
            </a:r>
            <a:r>
              <a:rPr lang="tr-TR" sz="2300" dirty="0"/>
              <a:t>.</a:t>
            </a:r>
          </a:p>
          <a:p>
            <a:r>
              <a:rPr lang="tr-TR" sz="2300" dirty="0"/>
              <a:t>Avatar </a:t>
            </a:r>
            <a:r>
              <a:rPr lang="tr-TR" sz="2300" dirty="0" err="1"/>
              <a:t>mouth</a:t>
            </a:r>
            <a:r>
              <a:rPr lang="tr-TR" sz="2300" dirty="0"/>
              <a:t> </a:t>
            </a:r>
            <a:r>
              <a:rPr lang="tr-TR" sz="2300" dirty="0" err="1"/>
              <a:t>movement</a:t>
            </a:r>
            <a:r>
              <a:rPr lang="tr-TR" sz="2300" dirty="0"/>
              <a:t> </a:t>
            </a:r>
            <a:r>
              <a:rPr lang="tr-TR" sz="2300" dirty="0" err="1"/>
              <a:t>now</a:t>
            </a:r>
            <a:r>
              <a:rPr lang="tr-TR" sz="2300" dirty="0"/>
              <a:t> </a:t>
            </a:r>
            <a:r>
              <a:rPr lang="tr-TR" sz="2300" dirty="0" err="1"/>
              <a:t>follows</a:t>
            </a:r>
            <a:r>
              <a:rPr lang="tr-TR" sz="2300" dirty="0"/>
              <a:t> </a:t>
            </a:r>
            <a:r>
              <a:rPr lang="tr-TR" sz="2300" dirty="0" err="1"/>
              <a:t>audio</a:t>
            </a:r>
            <a:r>
              <a:rPr lang="tr-TR" sz="2300" dirty="0"/>
              <a:t> </a:t>
            </a:r>
            <a:r>
              <a:rPr lang="tr-TR" sz="2300" dirty="0" err="1"/>
              <a:t>timing</a:t>
            </a:r>
            <a:r>
              <a:rPr lang="tr-TR" sz="2300" dirty="0"/>
              <a:t> </a:t>
            </a:r>
            <a:r>
              <a:rPr lang="tr-TR" sz="2300" dirty="0" err="1"/>
              <a:t>and</a:t>
            </a:r>
            <a:r>
              <a:rPr lang="tr-TR" sz="2300" dirty="0"/>
              <a:t> </a:t>
            </a:r>
            <a:r>
              <a:rPr lang="tr-TR" sz="2300" dirty="0" err="1"/>
              <a:t>volume</a:t>
            </a:r>
            <a:r>
              <a:rPr lang="tr-TR" sz="2300" dirty="0"/>
              <a:t> </a:t>
            </a:r>
            <a:r>
              <a:rPr lang="tr-TR" sz="2300" dirty="0" err="1"/>
              <a:t>meter</a:t>
            </a:r>
            <a:r>
              <a:rPr lang="tr-TR" sz="2300" dirty="0"/>
              <a:t> data </a:t>
            </a:r>
            <a:r>
              <a:rPr lang="tr-TR" sz="2300" dirty="0" err="1"/>
              <a:t>instead</a:t>
            </a:r>
            <a:r>
              <a:rPr lang="tr-TR" sz="2300" dirty="0"/>
              <a:t> of a </a:t>
            </a:r>
            <a:r>
              <a:rPr lang="tr-TR" sz="2300" dirty="0" err="1"/>
              <a:t>fixed</a:t>
            </a:r>
            <a:r>
              <a:rPr lang="tr-TR" sz="2300" dirty="0"/>
              <a:t> </a:t>
            </a:r>
            <a:r>
              <a:rPr lang="tr-TR" sz="2300" dirty="0" err="1"/>
              <a:t>short</a:t>
            </a:r>
            <a:r>
              <a:rPr lang="tr-TR" sz="2300" dirty="0"/>
              <a:t> </a:t>
            </a:r>
            <a:r>
              <a:rPr lang="tr-TR" sz="2300" dirty="0" err="1"/>
              <a:t>animation</a:t>
            </a:r>
            <a:r>
              <a:rPr lang="tr-TR" sz="2300" dirty="0"/>
              <a:t>.</a:t>
            </a:r>
          </a:p>
          <a:p>
            <a:r>
              <a:rPr lang="tr-TR" sz="2300" dirty="0" err="1"/>
              <a:t>The</a:t>
            </a:r>
            <a:r>
              <a:rPr lang="tr-TR" sz="2300" dirty="0"/>
              <a:t> </a:t>
            </a:r>
            <a:r>
              <a:rPr lang="tr-TR" sz="2300" dirty="0" err="1"/>
              <a:t>answer</a:t>
            </a:r>
            <a:r>
              <a:rPr lang="tr-TR" sz="2300" dirty="0"/>
              <a:t> </a:t>
            </a:r>
            <a:r>
              <a:rPr lang="tr-TR" sz="2300" dirty="0" err="1"/>
              <a:t>remains</a:t>
            </a:r>
            <a:r>
              <a:rPr lang="tr-TR" sz="2300" dirty="0"/>
              <a:t> </a:t>
            </a:r>
            <a:r>
              <a:rPr lang="tr-TR" sz="2300" dirty="0" err="1"/>
              <a:t>visible</a:t>
            </a:r>
            <a:r>
              <a:rPr lang="tr-TR" sz="2300" dirty="0"/>
              <a:t> </a:t>
            </a:r>
            <a:r>
              <a:rPr lang="tr-TR" sz="2300" dirty="0" err="1"/>
              <a:t>until</a:t>
            </a:r>
            <a:r>
              <a:rPr lang="tr-TR" sz="2300" dirty="0"/>
              <a:t> </a:t>
            </a:r>
            <a:r>
              <a:rPr lang="tr-TR" sz="2300" dirty="0" err="1"/>
              <a:t>speech</a:t>
            </a:r>
            <a:r>
              <a:rPr lang="tr-TR" sz="2300" dirty="0"/>
              <a:t> </a:t>
            </a:r>
            <a:r>
              <a:rPr lang="tr-TR" sz="2300" dirty="0" err="1"/>
              <a:t>ends</a:t>
            </a:r>
            <a:r>
              <a:rPr lang="tr-TR" sz="2300" dirty="0"/>
              <a:t>, </a:t>
            </a:r>
            <a:r>
              <a:rPr lang="tr-TR" sz="2300" dirty="0" err="1"/>
              <a:t>waits</a:t>
            </a:r>
            <a:r>
              <a:rPr lang="tr-TR" sz="2300" dirty="0"/>
              <a:t> </a:t>
            </a:r>
            <a:r>
              <a:rPr lang="tr-TR" sz="2300" dirty="0" err="1"/>
              <a:t>briefly</a:t>
            </a:r>
            <a:r>
              <a:rPr lang="tr-TR" sz="2300" dirty="0"/>
              <a:t>, </a:t>
            </a:r>
            <a:r>
              <a:rPr lang="tr-TR" sz="2300" dirty="0" err="1"/>
              <a:t>then</a:t>
            </a:r>
            <a:r>
              <a:rPr lang="tr-TR" sz="2300" dirty="0"/>
              <a:t> </a:t>
            </a:r>
            <a:r>
              <a:rPr lang="tr-TR" sz="2300" dirty="0" err="1"/>
              <a:t>moves</a:t>
            </a:r>
            <a:r>
              <a:rPr lang="tr-TR" sz="2300" dirty="0"/>
              <a:t> </a:t>
            </a:r>
            <a:r>
              <a:rPr lang="tr-TR" sz="2300" dirty="0" err="1"/>
              <a:t>to</a:t>
            </a:r>
            <a:r>
              <a:rPr lang="tr-TR" sz="2300" dirty="0"/>
              <a:t> </a:t>
            </a:r>
            <a:r>
              <a:rPr lang="tr-TR" sz="2300" dirty="0" err="1"/>
              <a:t>the</a:t>
            </a:r>
            <a:r>
              <a:rPr lang="tr-TR" sz="2300" dirty="0"/>
              <a:t> </a:t>
            </a:r>
            <a:r>
              <a:rPr lang="tr-TR" sz="2300" dirty="0" err="1"/>
              <a:t>next</a:t>
            </a:r>
            <a:r>
              <a:rPr lang="tr-TR" sz="2300" dirty="0"/>
              <a:t> </a:t>
            </a:r>
            <a:r>
              <a:rPr lang="tr-TR" sz="2300" dirty="0" err="1"/>
              <a:t>question</a:t>
            </a:r>
            <a:r>
              <a:rPr lang="tr-TR" sz="2300" dirty="0"/>
              <a:t>.</a:t>
            </a:r>
          </a:p>
          <a:p>
            <a:r>
              <a:rPr lang="tr-TR" sz="2300" dirty="0"/>
              <a:t>Admin panel can </a:t>
            </a:r>
            <a:r>
              <a:rPr lang="tr-TR" sz="2300" dirty="0" err="1"/>
              <a:t>enable</a:t>
            </a:r>
            <a:r>
              <a:rPr lang="tr-TR" sz="2300" dirty="0"/>
              <a:t>/</a:t>
            </a:r>
            <a:r>
              <a:rPr lang="tr-TR" sz="2300" dirty="0" err="1"/>
              <a:t>disable</a:t>
            </a:r>
            <a:r>
              <a:rPr lang="tr-TR" sz="2300" dirty="0"/>
              <a:t> TTS </a:t>
            </a:r>
            <a:r>
              <a:rPr lang="tr-TR" sz="2300" dirty="0" err="1"/>
              <a:t>for</a:t>
            </a:r>
            <a:r>
              <a:rPr lang="tr-TR" sz="2300" dirty="0"/>
              <a:t> </a:t>
            </a:r>
            <a:r>
              <a:rPr lang="tr-TR" sz="2300" dirty="0" err="1"/>
              <a:t>new</a:t>
            </a:r>
            <a:r>
              <a:rPr lang="tr-TR" sz="2300" dirty="0"/>
              <a:t> </a:t>
            </a:r>
            <a:r>
              <a:rPr lang="tr-TR" sz="2300" dirty="0" err="1"/>
              <a:t>answers</a:t>
            </a:r>
            <a:r>
              <a:rPr lang="tr-TR" sz="2300" dirty="0"/>
              <a:t>.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 descr="A cartoon of a person with long hair&#10;&#10;AI-generated content may be incorrect.">
            <a:extLst>
              <a:ext uri="{FF2B5EF4-FFF2-40B4-BE49-F238E27FC236}">
                <a16:creationId xmlns:a16="http://schemas.microsoft.com/office/drawing/2014/main" id="{961AB665-82BD-53F3-2CF1-FCB080C03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94" y="1501053"/>
            <a:ext cx="3691231" cy="489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E6ED-3F7E-269E-8F05-5E94C557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6D1B342-9237-D8AD-58D2-4CDC3EE8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Next Steps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67A403-5FFB-9A99-D0BE-C466AE052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171" y="1409700"/>
            <a:ext cx="11637546" cy="4991100"/>
          </a:xfrm>
        </p:spPr>
        <p:txBody>
          <a:bodyPr>
            <a:normAutofit/>
          </a:bodyPr>
          <a:lstStyle/>
          <a:p>
            <a:r>
              <a:rPr lang="tr-TR" sz="2500" dirty="0" err="1"/>
              <a:t>Improve</a:t>
            </a:r>
            <a:r>
              <a:rPr lang="tr-TR" sz="2500" dirty="0"/>
              <a:t> </a:t>
            </a:r>
            <a:r>
              <a:rPr lang="tr-TR" sz="2500" dirty="0" err="1"/>
              <a:t>retrieval</a:t>
            </a:r>
            <a:r>
              <a:rPr lang="tr-TR" sz="2500" dirty="0"/>
              <a:t> </a:t>
            </a:r>
            <a:r>
              <a:rPr lang="tr-TR" sz="2500" dirty="0" err="1"/>
              <a:t>ranking</a:t>
            </a:r>
            <a:r>
              <a:rPr lang="tr-TR" sz="2500" dirty="0"/>
              <a:t> </a:t>
            </a:r>
            <a:r>
              <a:rPr lang="tr-TR" sz="2500" dirty="0" err="1"/>
              <a:t>with</a:t>
            </a:r>
            <a:r>
              <a:rPr lang="tr-TR" sz="2500" dirty="0"/>
              <a:t> </a:t>
            </a:r>
            <a:r>
              <a:rPr lang="tr-TR" sz="2500" dirty="0" err="1"/>
              <a:t>broader</a:t>
            </a:r>
            <a:r>
              <a:rPr lang="tr-TR" sz="2500" dirty="0"/>
              <a:t> </a:t>
            </a:r>
            <a:r>
              <a:rPr lang="tr-TR" sz="2500" dirty="0" err="1"/>
              <a:t>official</a:t>
            </a:r>
            <a:r>
              <a:rPr lang="tr-TR" sz="2500" dirty="0"/>
              <a:t> GTU </a:t>
            </a:r>
            <a:r>
              <a:rPr lang="tr-TR" sz="2500" dirty="0" err="1"/>
              <a:t>source</a:t>
            </a:r>
            <a:r>
              <a:rPr lang="tr-TR" sz="2500" dirty="0"/>
              <a:t> </a:t>
            </a:r>
            <a:r>
              <a:rPr lang="tr-TR" sz="2500" dirty="0" err="1"/>
              <a:t>coverage</a:t>
            </a:r>
            <a:r>
              <a:rPr lang="tr-TR" sz="2500" dirty="0"/>
              <a:t> </a:t>
            </a:r>
            <a:r>
              <a:rPr lang="tr-TR" sz="2500" dirty="0" err="1"/>
              <a:t>and</a:t>
            </a:r>
            <a:r>
              <a:rPr lang="tr-TR" sz="2500" dirty="0"/>
              <a:t> </a:t>
            </a:r>
            <a:r>
              <a:rPr lang="tr-TR" sz="2500" dirty="0" err="1"/>
              <a:t>better</a:t>
            </a:r>
            <a:r>
              <a:rPr lang="tr-TR" sz="2500" dirty="0"/>
              <a:t> </a:t>
            </a:r>
            <a:r>
              <a:rPr lang="tr-TR" sz="2500" dirty="0" err="1"/>
              <a:t>page</a:t>
            </a:r>
            <a:r>
              <a:rPr lang="tr-TR" sz="2500" dirty="0"/>
              <a:t> </a:t>
            </a:r>
            <a:r>
              <a:rPr lang="tr-TR" sz="2500" dirty="0" err="1"/>
              <a:t>filtering</a:t>
            </a:r>
            <a:r>
              <a:rPr lang="tr-TR" sz="2500" dirty="0"/>
              <a:t>.</a:t>
            </a:r>
          </a:p>
          <a:p>
            <a:r>
              <a:rPr lang="tr-TR" sz="2500" dirty="0"/>
              <a:t>Optimize </a:t>
            </a:r>
            <a:r>
              <a:rPr lang="tr-TR" sz="2500" dirty="0" err="1"/>
              <a:t>latency</a:t>
            </a:r>
            <a:r>
              <a:rPr lang="tr-TR" sz="2500" dirty="0"/>
              <a:t> </a:t>
            </a:r>
            <a:r>
              <a:rPr lang="tr-TR" sz="2500" dirty="0" err="1"/>
              <a:t>by</a:t>
            </a:r>
            <a:r>
              <a:rPr lang="tr-TR" sz="2500" dirty="0"/>
              <a:t> </a:t>
            </a:r>
            <a:r>
              <a:rPr lang="tr-TR" sz="2500" dirty="0" err="1"/>
              <a:t>caching</a:t>
            </a:r>
            <a:r>
              <a:rPr lang="tr-TR" sz="2500" dirty="0"/>
              <a:t> </a:t>
            </a:r>
            <a:r>
              <a:rPr lang="tr-TR" sz="2500" dirty="0" err="1"/>
              <a:t>common</a:t>
            </a:r>
            <a:r>
              <a:rPr lang="tr-TR" sz="2500" dirty="0"/>
              <a:t> </a:t>
            </a:r>
            <a:r>
              <a:rPr lang="tr-TR" sz="2500" dirty="0" err="1"/>
              <a:t>answers</a:t>
            </a:r>
            <a:r>
              <a:rPr lang="tr-TR" sz="2500" dirty="0"/>
              <a:t>, </a:t>
            </a:r>
            <a:r>
              <a:rPr lang="tr-TR" sz="2500" dirty="0" err="1"/>
              <a:t>tuning</a:t>
            </a:r>
            <a:r>
              <a:rPr lang="tr-TR" sz="2500" dirty="0"/>
              <a:t> model </a:t>
            </a:r>
            <a:r>
              <a:rPr lang="tr-TR" sz="2500" dirty="0" err="1"/>
              <a:t>choice</a:t>
            </a:r>
            <a:r>
              <a:rPr lang="tr-TR" sz="2500" dirty="0"/>
              <a:t> </a:t>
            </a:r>
            <a:r>
              <a:rPr lang="tr-TR" sz="2500" dirty="0" err="1"/>
              <a:t>and</a:t>
            </a:r>
            <a:r>
              <a:rPr lang="tr-TR" sz="2500" dirty="0"/>
              <a:t> </a:t>
            </a:r>
            <a:r>
              <a:rPr lang="tr-TR" sz="2500" dirty="0" err="1"/>
              <a:t>separating</a:t>
            </a:r>
            <a:r>
              <a:rPr lang="tr-TR" sz="2500" dirty="0"/>
              <a:t> TTS </a:t>
            </a:r>
            <a:r>
              <a:rPr lang="tr-TR" sz="2500" dirty="0" err="1"/>
              <a:t>timing</a:t>
            </a:r>
            <a:r>
              <a:rPr lang="tr-TR" sz="2500" dirty="0"/>
              <a:t> </a:t>
            </a:r>
            <a:r>
              <a:rPr lang="tr-TR" sz="2500" dirty="0" err="1"/>
              <a:t>from</a:t>
            </a:r>
            <a:r>
              <a:rPr lang="tr-TR" sz="2500" dirty="0"/>
              <a:t> </a:t>
            </a:r>
            <a:r>
              <a:rPr lang="tr-TR" sz="2500" dirty="0" err="1"/>
              <a:t>answer</a:t>
            </a:r>
            <a:r>
              <a:rPr lang="tr-TR" sz="2500" dirty="0"/>
              <a:t> </a:t>
            </a:r>
            <a:r>
              <a:rPr lang="tr-TR" sz="2500" dirty="0" err="1"/>
              <a:t>generation</a:t>
            </a:r>
            <a:r>
              <a:rPr lang="tr-TR" sz="2500" dirty="0"/>
              <a:t>.</a:t>
            </a:r>
          </a:p>
          <a:p>
            <a:r>
              <a:rPr lang="tr-TR" sz="2500" dirty="0"/>
              <a:t>Complete YouTube </a:t>
            </a:r>
            <a:r>
              <a:rPr lang="tr-TR" sz="2500" dirty="0" err="1"/>
              <a:t>live</a:t>
            </a:r>
            <a:r>
              <a:rPr lang="tr-TR" sz="2500" dirty="0"/>
              <a:t> </a:t>
            </a:r>
            <a:r>
              <a:rPr lang="tr-TR" sz="2500" dirty="0" err="1"/>
              <a:t>end-to-end</a:t>
            </a:r>
            <a:r>
              <a:rPr lang="tr-TR" sz="2500" dirty="0"/>
              <a:t> demo </a:t>
            </a:r>
            <a:r>
              <a:rPr lang="tr-TR" sz="2500" dirty="0" err="1"/>
              <a:t>with</a:t>
            </a:r>
            <a:r>
              <a:rPr lang="tr-TR" sz="2500" dirty="0"/>
              <a:t> </a:t>
            </a:r>
            <a:r>
              <a:rPr lang="tr-TR" sz="2500" dirty="0" err="1"/>
              <a:t>real</a:t>
            </a:r>
            <a:r>
              <a:rPr lang="tr-TR" sz="2500" dirty="0"/>
              <a:t> </a:t>
            </a:r>
            <a:r>
              <a:rPr lang="tr-TR" sz="2500" dirty="0" err="1"/>
              <a:t>chat</a:t>
            </a:r>
            <a:r>
              <a:rPr lang="tr-TR" sz="2500" dirty="0"/>
              <a:t> </a:t>
            </a:r>
            <a:r>
              <a:rPr lang="tr-TR" sz="2500" dirty="0" err="1"/>
              <a:t>messages</a:t>
            </a:r>
            <a:r>
              <a:rPr lang="tr-TR" sz="2500" dirty="0"/>
              <a:t> </a:t>
            </a:r>
            <a:r>
              <a:rPr lang="tr-TR" sz="2500" dirty="0" err="1"/>
              <a:t>and</a:t>
            </a:r>
            <a:r>
              <a:rPr lang="tr-TR" sz="2500" dirty="0"/>
              <a:t> </a:t>
            </a:r>
            <a:r>
              <a:rPr lang="tr-TR" sz="2500" dirty="0" err="1"/>
              <a:t>duplicate</a:t>
            </a:r>
            <a:r>
              <a:rPr lang="tr-TR" sz="2500" dirty="0"/>
              <a:t> </a:t>
            </a:r>
            <a:r>
              <a:rPr lang="tr-TR" sz="2500" dirty="0" err="1"/>
              <a:t>protection</a:t>
            </a:r>
            <a:r>
              <a:rPr lang="tr-TR" sz="2500" dirty="0"/>
              <a:t>.</a:t>
            </a:r>
          </a:p>
          <a:p>
            <a:r>
              <a:rPr lang="tr-TR" sz="2500" dirty="0" err="1"/>
              <a:t>Polish</a:t>
            </a:r>
            <a:r>
              <a:rPr lang="tr-TR" sz="2500" dirty="0"/>
              <a:t> avatar </a:t>
            </a:r>
            <a:r>
              <a:rPr lang="tr-TR" sz="2500" dirty="0" err="1"/>
              <a:t>delivery</a:t>
            </a:r>
            <a:r>
              <a:rPr lang="tr-TR" sz="2500" dirty="0"/>
              <a:t>: </a:t>
            </a:r>
            <a:r>
              <a:rPr lang="tr-TR" sz="2500" dirty="0" err="1"/>
              <a:t>more</a:t>
            </a:r>
            <a:r>
              <a:rPr lang="tr-TR" sz="2500" dirty="0"/>
              <a:t> </a:t>
            </a:r>
            <a:r>
              <a:rPr lang="tr-TR" sz="2500" dirty="0" err="1"/>
              <a:t>natural</a:t>
            </a:r>
            <a:r>
              <a:rPr lang="tr-TR" sz="2500" dirty="0"/>
              <a:t> idle </a:t>
            </a:r>
            <a:r>
              <a:rPr lang="tr-TR" sz="2500" dirty="0" err="1"/>
              <a:t>motion</a:t>
            </a:r>
            <a:r>
              <a:rPr lang="tr-TR" sz="2500" dirty="0"/>
              <a:t>, </a:t>
            </a:r>
            <a:r>
              <a:rPr lang="tr-TR" sz="2500" dirty="0" err="1"/>
              <a:t>stable</a:t>
            </a:r>
            <a:r>
              <a:rPr lang="tr-TR" sz="2500" dirty="0"/>
              <a:t> </a:t>
            </a:r>
            <a:r>
              <a:rPr lang="tr-TR" sz="2500" dirty="0" err="1"/>
              <a:t>hair</a:t>
            </a:r>
            <a:r>
              <a:rPr lang="tr-TR" sz="2500" dirty="0"/>
              <a:t>/</a:t>
            </a:r>
            <a:r>
              <a:rPr lang="tr-TR" sz="2500" dirty="0" err="1"/>
              <a:t>material</a:t>
            </a:r>
            <a:r>
              <a:rPr lang="tr-TR" sz="2500" dirty="0"/>
              <a:t> </a:t>
            </a:r>
            <a:r>
              <a:rPr lang="tr-TR" sz="2500" dirty="0" err="1"/>
              <a:t>settings</a:t>
            </a:r>
            <a:r>
              <a:rPr lang="tr-TR" sz="2500" dirty="0"/>
              <a:t> </a:t>
            </a:r>
            <a:r>
              <a:rPr lang="tr-TR" sz="2500" dirty="0" err="1"/>
              <a:t>and</a:t>
            </a:r>
            <a:r>
              <a:rPr lang="tr-TR" sz="2500" dirty="0"/>
              <a:t> </a:t>
            </a:r>
            <a:r>
              <a:rPr lang="tr-TR" sz="2500" dirty="0" err="1"/>
              <a:t>better</a:t>
            </a:r>
            <a:r>
              <a:rPr lang="tr-TR" sz="2500" dirty="0"/>
              <a:t> </a:t>
            </a:r>
            <a:r>
              <a:rPr lang="tr-TR" sz="2500" dirty="0" err="1"/>
              <a:t>lip-sync</a:t>
            </a:r>
            <a:r>
              <a:rPr lang="tr-TR" sz="2500" dirty="0"/>
              <a:t> </a:t>
            </a:r>
            <a:r>
              <a:rPr lang="tr-TR" sz="2500" dirty="0" err="1"/>
              <a:t>calibration</a:t>
            </a:r>
            <a:r>
              <a:rPr lang="tr-TR" sz="2500" dirty="0"/>
              <a:t>.</a:t>
            </a:r>
          </a:p>
          <a:p>
            <a:r>
              <a:rPr lang="tr-TR" sz="2500" dirty="0"/>
              <a:t>Finalize </a:t>
            </a:r>
            <a:r>
              <a:rPr lang="tr-TR" sz="2500" dirty="0" err="1"/>
              <a:t>documentation</a:t>
            </a:r>
            <a:r>
              <a:rPr lang="tr-TR" sz="2500" dirty="0"/>
              <a:t>, </a:t>
            </a:r>
            <a:r>
              <a:rPr lang="tr-TR" sz="2500" dirty="0" err="1"/>
              <a:t>deployment</a:t>
            </a:r>
            <a:r>
              <a:rPr lang="tr-TR" sz="2500" dirty="0"/>
              <a:t> </a:t>
            </a:r>
            <a:r>
              <a:rPr lang="tr-TR" sz="2500" dirty="0" err="1"/>
              <a:t>steps</a:t>
            </a:r>
            <a:r>
              <a:rPr lang="tr-TR" sz="2500" dirty="0"/>
              <a:t> </a:t>
            </a:r>
            <a:r>
              <a:rPr lang="tr-TR" sz="2500" dirty="0" err="1"/>
              <a:t>and</a:t>
            </a:r>
            <a:r>
              <a:rPr lang="tr-TR" sz="2500" dirty="0"/>
              <a:t> final </a:t>
            </a:r>
            <a:r>
              <a:rPr lang="tr-TR" sz="2500" dirty="0" err="1"/>
              <a:t>presentation</a:t>
            </a:r>
            <a:r>
              <a:rPr lang="tr-TR" sz="2500" dirty="0"/>
              <a:t> demo </a:t>
            </a:r>
            <a:r>
              <a:rPr lang="tr-TR" sz="2500" dirty="0" err="1"/>
              <a:t>flow</a:t>
            </a:r>
            <a:r>
              <a:rPr lang="tr-TR" sz="2500" dirty="0"/>
              <a:t>.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BFB381-149F-11E1-ED3B-9F2EEC438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06835EEB-B304-ECDF-18B8-DE9502AF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2F6F010-6267-F75A-F293-00B7EFAA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19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REFERENCES USED IN CONTINUED WORK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A2A2A"/>
                </a:solidFill>
              </a:rPr>
              <a:t>1. Lewis et al., Retrieval-Augmented Generation, </a:t>
            </a:r>
            <a:r>
              <a:rPr lang="en-US" sz="2400" dirty="0" err="1">
                <a:solidFill>
                  <a:srgbClr val="2A2A2A"/>
                </a:solidFill>
              </a:rPr>
              <a:t>NeurIPS</a:t>
            </a:r>
            <a:r>
              <a:rPr lang="en-US" sz="2400" dirty="0">
                <a:solidFill>
                  <a:srgbClr val="2A2A2A"/>
                </a:solidFill>
              </a:rPr>
              <a:t> 2020.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A2A2A"/>
                </a:solidFill>
              </a:rPr>
              <a:t>2. </a:t>
            </a:r>
            <a:r>
              <a:rPr lang="en-US" sz="2400" dirty="0" err="1">
                <a:solidFill>
                  <a:srgbClr val="2A2A2A"/>
                </a:solidFill>
              </a:rPr>
              <a:t>Karpukhin</a:t>
            </a:r>
            <a:r>
              <a:rPr lang="en-US" sz="2400" dirty="0">
                <a:solidFill>
                  <a:srgbClr val="2A2A2A"/>
                </a:solidFill>
              </a:rPr>
              <a:t> et al., Dense Passage Retrieval, EMNLP 2020.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A2A2A"/>
                </a:solidFill>
              </a:rPr>
              <a:t>3. </a:t>
            </a:r>
            <a:r>
              <a:rPr lang="en-US" sz="2400" dirty="0" err="1">
                <a:solidFill>
                  <a:srgbClr val="2A2A2A"/>
                </a:solidFill>
              </a:rPr>
              <a:t>FastAPI</a:t>
            </a:r>
            <a:r>
              <a:rPr lang="en-US" sz="2400" dirty="0">
                <a:solidFill>
                  <a:srgbClr val="2A2A2A"/>
                </a:solidFill>
              </a:rPr>
              <a:t>, </a:t>
            </a:r>
            <a:r>
              <a:rPr lang="en-US" sz="2400" dirty="0" err="1">
                <a:solidFill>
                  <a:srgbClr val="2A2A2A"/>
                </a:solidFill>
              </a:rPr>
              <a:t>Next.js</a:t>
            </a:r>
            <a:r>
              <a:rPr lang="en-US" sz="2400" dirty="0">
                <a:solidFill>
                  <a:srgbClr val="2A2A2A"/>
                </a:solidFill>
              </a:rPr>
              <a:t>, </a:t>
            </a:r>
            <a:r>
              <a:rPr lang="en-US" sz="2400" dirty="0" err="1">
                <a:solidFill>
                  <a:srgbClr val="2A2A2A"/>
                </a:solidFill>
              </a:rPr>
              <a:t>pgvector</a:t>
            </a:r>
            <a:r>
              <a:rPr lang="en-US" sz="2400" dirty="0">
                <a:solidFill>
                  <a:srgbClr val="2A2A2A"/>
                </a:solidFill>
              </a:rPr>
              <a:t> and YouTube Data API documentation.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A2A2A"/>
                </a:solidFill>
              </a:rPr>
              <a:t>4. </a:t>
            </a:r>
            <a:r>
              <a:rPr lang="en-US" sz="2400" dirty="0" err="1">
                <a:solidFill>
                  <a:srgbClr val="2A2A2A"/>
                </a:solidFill>
              </a:rPr>
              <a:t>OpenRouter</a:t>
            </a:r>
            <a:r>
              <a:rPr lang="en-US" sz="2400" dirty="0">
                <a:solidFill>
                  <a:srgbClr val="2A2A2A"/>
                </a:solidFill>
              </a:rPr>
              <a:t> / OpenAI-compatible API documentation.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A2A2A"/>
                </a:solidFill>
              </a:rPr>
              <a:t>5. GTU official web pages and PDF documents used as system data.</a:t>
            </a:r>
            <a:endParaRPr lang="en-US" sz="24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6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8683-6922-82FF-4165-C45FABFDE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6CF2F37-93AD-3B97-033D-CCE5B750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Live </a:t>
            </a:r>
            <a:r>
              <a:rPr lang="tr-TR" dirty="0" err="1"/>
              <a:t>Screen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3B0D37-6707-5CC3-26E6-9787AD79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312902D1-71C4-69EC-5220-028150396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9F7B746-82F3-2CED-8091-C1A39231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9</a:t>
            </a:fld>
            <a:endParaRPr lang="en-US"/>
          </a:p>
        </p:txBody>
      </p:sp>
      <p:pic>
        <p:nvPicPr>
          <p:cNvPr id="13" name="Picture 12" descr="A screenshot of a cartoon&#10;&#10;AI-generated content may be incorrect.">
            <a:extLst>
              <a:ext uri="{FF2B5EF4-FFF2-40B4-BE49-F238E27FC236}">
                <a16:creationId xmlns:a16="http://schemas.microsoft.com/office/drawing/2014/main" id="{07EFECC4-EF57-6E3B-D83D-BB5787553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27" y="0"/>
            <a:ext cx="12203307" cy="685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1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2989-A31F-6B4F-38E6-E7EDD971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8455C98-A6C5-63FF-B130-92B3E328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Admin Panel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DF915B9-707D-16D8-E48E-0EEBAF3C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28.04.2026</a:t>
            </a:fld>
            <a:endParaRPr lang="en-US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681EEC60-0174-281B-2656-F84854EE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Second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8251446-ECDE-522D-9831-F2DDEB97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984A35-8C80-7329-19AD-D279F05C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53" y="-68511"/>
            <a:ext cx="12368640" cy="698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30316"/>
      </p:ext>
    </p:extLst>
  </p:cSld>
  <p:clrMapOvr>
    <a:masterClrMapping/>
  </p:clrMapOvr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4D1C68706CB9BA45AB53E79A3B0478D4" ma:contentTypeVersion="3" ma:contentTypeDescription="Yeni belge oluşturun." ma:contentTypeScope="" ma:versionID="275620f87df7c3c8ea4d5c166d452aa5">
  <xsd:schema xmlns:xsd="http://www.w3.org/2001/XMLSchema" xmlns:xs="http://www.w3.org/2001/XMLSchema" xmlns:p="http://schemas.microsoft.com/office/2006/metadata/properties" xmlns:ns2="a6a3d351-e3c3-4675-8edb-80517b370853" targetNamespace="http://schemas.microsoft.com/office/2006/metadata/properties" ma:root="true" ma:fieldsID="eaddd183bb73559f3a01e6bb40ea956e" ns2:_="">
    <xsd:import namespace="a6a3d351-e3c3-4675-8edb-80517b3708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a3d351-e3c3-4675-8edb-80517b3708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0E7F5B-1088-4687-B02E-6E576DD651E5}">
  <ds:schemaRefs>
    <ds:schemaRef ds:uri="a6a3d351-e3c3-4675-8edb-80517b3708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045251B-9984-414C-BAB5-F5F3B79DCF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3F19564-8C6F-45DC-9ED0-17F7702A30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520</Words>
  <Application>Microsoft Macintosh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Narrow</vt:lpstr>
      <vt:lpstr>Calibri</vt:lpstr>
      <vt:lpstr>GTU-ŞABLON-1</vt:lpstr>
      <vt:lpstr>AI/RAG-Based Live GTU Q&amp;A System</vt:lpstr>
      <vt:lpstr>Contents</vt:lpstr>
      <vt:lpstr>Progress Since the First Meeting</vt:lpstr>
      <vt:lpstr>Current System Architecture</vt:lpstr>
      <vt:lpstr>Backend and RAG Implementation</vt:lpstr>
      <vt:lpstr>Live Broadcast UI, Avatar and TTS </vt:lpstr>
      <vt:lpstr>Next Steps</vt:lpstr>
      <vt:lpstr>REFERENCES USED IN CONTINUED WORK</vt:lpstr>
      <vt:lpstr>Live Screen</vt:lpstr>
      <vt:lpstr>Admin Panel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ÖMER FEHMİ ÇAKICI</cp:lastModifiedBy>
  <cp:revision>4</cp:revision>
  <dcterms:created xsi:type="dcterms:W3CDTF">2015-02-28T16:59:24Z</dcterms:created>
  <dcterms:modified xsi:type="dcterms:W3CDTF">2026-04-28T19:22:52Z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0x0101004D1C68706CB9BA45AB53E79A3B0478D4</vt:lpwstr>
  </property>
</Properties>
</file>