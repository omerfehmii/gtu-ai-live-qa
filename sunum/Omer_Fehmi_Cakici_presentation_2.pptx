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320040"/>
            <a:ext cx="2926080" cy="2926080"/>
          </a:xfrm>
          <a:prstGeom prst="arc">
            <a:avLst/>
          </a:prstGeom>
          <a:noFill/>
          <a:ln w="27940">
            <a:solidFill>
              <a:srgbClr val="EA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82880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AI/RAG-Based Live GTU Q&amp;A System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926080" y="27432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</a:rPr>
              <a:t>Second Presentation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37560" y="3429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CSE 496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Ömer Fehmi Çakıcı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Advisor: Mehmet Göktürk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A2A2A"/>
                </a:solidFill>
              </a:rPr>
              <a:t>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1353312"/>
            <a:ext cx="1069848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Progress since the first meeting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Updated system scope and live demo objective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Current backend and RAG implementation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YouTube live chat pipeline and admin tools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Broadcast UI, avatar, TTS and lip-sync work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Evaluation results, open issues and next steps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References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 Since the First Meeting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325880"/>
            <a:ext cx="6675120" cy="4114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definition was narrowed from a generic QA tool to a live YouTube broadcast assistant.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Backend RAG pipeline was implemented: ingest, archive, chunking, embeddings, retrieval and answer traces.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panel was extended for GTU source management, YouTube stream connection and runtime TTS control.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Live broadcast screen was redesigned around a presenter avatar, active question and current answer.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3D avatar loading, camera framing, mouth animation and TTS synchronization were prototyped.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Worker/service flow was tested and fixed so queued questions are processed continuously.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726680" y="1371600"/>
            <a:ext cx="3566160" cy="3520440"/>
          </a:xfrm>
          <a:prstGeom prst="roundRect">
            <a:avLst>
              <a:gd name="adj" fmla="val 2078"/>
            </a:avLst>
          </a:prstGeom>
          <a:solidFill>
            <a:srgbClr val="F4F8FD">
              <a:alpha val="97000"/>
            </a:srgbClr>
          </a:solidFill>
          <a:ln w="13970">
            <a:solidFill>
              <a:srgbClr val="D6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91272" y="2948940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IMAGE PLACEHOLDER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Admin panel or live screen screenshot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5166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</a:rPr>
              <a:t>MAIN SHIFT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18120" y="5440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From planned architecture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to a working demo loop.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Updated Project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A5F"/>
                </a:solidFill>
              </a:rPr>
              <a:t>YouTube chat → grounded Turkish answer → speaking live avatar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58368" y="2331720"/>
            <a:ext cx="2240280" cy="1444752"/>
          </a:xfrm>
          <a:prstGeom prst="roundRect">
            <a:avLst>
              <a:gd name="adj" fmla="val 5063"/>
            </a:avLst>
          </a:prstGeom>
          <a:solidFill>
            <a:srgbClr val="EAF4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871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4505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Question intake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9536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A2A2A"/>
                </a:solidFill>
              </a:rPr>
              <a:t>Manual or YouTube live chat messages enter the queue.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2962656" y="3054096"/>
            <a:ext cx="310896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01568" y="2331720"/>
            <a:ext cx="2240280" cy="1444752"/>
          </a:xfrm>
          <a:prstGeom prst="roundRect">
            <a:avLst>
              <a:gd name="adj" fmla="val 5063"/>
            </a:avLst>
          </a:prstGeom>
          <a:solidFill>
            <a:srgbClr val="F4F8FD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9584" y="24871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3048" y="24505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Grounded answer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602736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A2A2A"/>
                </a:solidFill>
              </a:rPr>
              <a:t>RAG retrieves relevant GTU pages/PDF chunks before LLM generation.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705856" y="3054096"/>
            <a:ext cx="310896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44768" y="2331720"/>
            <a:ext cx="2240280" cy="1444752"/>
          </a:xfrm>
          <a:prstGeom prst="roundRect">
            <a:avLst>
              <a:gd name="adj" fmla="val 5063"/>
            </a:avLst>
          </a:prstGeom>
          <a:solidFill>
            <a:srgbClr val="EAF4FF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4871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56248" y="24505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Broadcast response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45936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A2A2A"/>
                </a:solidFill>
              </a:rPr>
              <a:t>Answer is shown on the live stage and played through TTS.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449056" y="3054096"/>
            <a:ext cx="310896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87968" y="2331720"/>
            <a:ext cx="2240280" cy="1444752"/>
          </a:xfrm>
          <a:prstGeom prst="roundRect">
            <a:avLst>
              <a:gd name="adj" fmla="val 5063"/>
            </a:avLst>
          </a:prstGeom>
          <a:solidFill>
            <a:srgbClr val="F4F8FD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5984" y="248716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99448" y="245059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</a:rPr>
              <a:t>Avatar delivery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089136" y="2788920"/>
            <a:ext cx="1874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A2A2A"/>
                </a:solidFill>
              </a:rPr>
              <a:t>The avatar speaks with lip movement matched to audio duration.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1005840" y="4572000"/>
            <a:ext cx="987552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target user is no longer only a web visitor; it is also the YouTube live audience.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product must feel like a broadcast scene, not only a dashboard.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Reliability requirement: do not fabricate when GTU context is weak.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System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4F8FD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581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F3A5F"/>
                </a:solidFill>
              </a:rPr>
              <a:t>GTU Sources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1264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Web pages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PDF documents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743200" y="1417320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4F8FD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581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F3A5F"/>
                </a:solidFill>
              </a:rPr>
              <a:t>Archive &amp; Index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285292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crawl cache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chunks + embeddings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4983480" y="1417320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4F8FD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93208" y="1581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F3A5F"/>
                </a:solidFill>
              </a:rPr>
              <a:t>RAG Backend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09320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FastAPI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retrieval + answer API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7223760" y="1417320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4F8FD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488" y="1581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F3A5F"/>
                </a:solidFill>
              </a:rPr>
              <a:t>LLM / TTS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33348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OpenRouter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chat + speech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9464040" y="1417320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4F8FD"/>
          </a:solidFill>
          <a:ln w="12700">
            <a:solidFill>
              <a:srgbClr val="D6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1581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F3A5F"/>
                </a:solidFill>
              </a:rPr>
              <a:t>Live Stage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957376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Next.js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6B7280"/>
                </a:solidFill>
              </a:rPr>
              <a:t>avatar + answer UI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2423160" y="1929384"/>
            <a:ext cx="27432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63440" y="1929384"/>
            <a:ext cx="27432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03720" y="1929384"/>
            <a:ext cx="27432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0" y="1929384"/>
            <a:ext cx="274320" cy="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508760" y="3675888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18488" y="37673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YouTube live chat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84448" y="3867912"/>
            <a:ext cx="1335024" cy="-1353312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160520" y="434340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4BB3FD"/>
          </a:solidFill>
          <a:ln w="12700">
            <a:solidFill>
              <a:srgbClr val="4BB3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0248" y="4434840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Worker queue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4343400"/>
            <a:ext cx="758952" cy="-182880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3703320"/>
            <a:ext cx="1600200" cy="384048"/>
          </a:xfrm>
          <a:prstGeom prst="roundRect">
            <a:avLst>
              <a:gd name="adj" fmla="val 14286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9128" y="3794760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Admin panel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3703320"/>
            <a:ext cx="-1143000" cy="-1188720"/>
          </a:xfrm>
          <a:prstGeom prst="line">
            <a:avLst/>
          </a:prstGeom>
          <a:noFill/>
          <a:ln w="2032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31520" y="5715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A2A"/>
                </a:solidFill>
              </a:rPr>
              <a:t>Implemented data path now covers ingest, retrieval, generation, speech output and live presentation.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and RAG Implementation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55778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GTU web/PDF ingest supports seed URLs, PDF URLs, sitemap discovery and cached source archives.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Documents are converted into chunks and indexed with embeddings for semantic retrieval.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Retrieval combines vector similarity with keyword/string relevance and document quality penalties.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Answer generation uses a GTU-specific system prompt and keeps source traces internally.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Fallback behavior is implemented for missing API keys or weak context instead of fabricating details.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2084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</a:rPr>
              <a:t>CURRENT LOCAL DEMO DATA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720840" y="2258568"/>
            <a:ext cx="379476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7830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</a:rPr>
              <a:t>Documents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1160" y="178308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0840" y="2971800"/>
            <a:ext cx="379476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496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</a:rPr>
              <a:t>Chunks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81160" y="24963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18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20840" y="3685032"/>
            <a:ext cx="379476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2095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</a:rPr>
              <a:t>Answered demo questions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1160" y="32095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4398264"/>
            <a:ext cx="379476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9227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</a:rPr>
              <a:t>Source types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39227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80ED"/>
                </a:solidFill>
              </a:rPr>
              <a:t>Web + PDF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0" y="47548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8FD">
              <a:alpha val="97000"/>
            </a:srgbClr>
          </a:solidFill>
          <a:ln w="13970">
            <a:solidFill>
              <a:srgbClr val="D6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509778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IMAGE PLACEHOLDER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RAG source/archive or answer trace screenshot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Broadcast UI, Avatar and TTS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4800600" cy="4069080"/>
          </a:xfrm>
          <a:prstGeom prst="roundRect">
            <a:avLst>
              <a:gd name="adj" fmla="val 1798"/>
            </a:avLst>
          </a:prstGeom>
          <a:solidFill>
            <a:srgbClr val="F4F8FD">
              <a:alpha val="97000"/>
            </a:srgbClr>
          </a:solidFill>
          <a:ln w="13970">
            <a:solidFill>
              <a:srgbClr val="D6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177540"/>
            <a:ext cx="4471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IMAGE PLACEHOLDER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Current /live broadcast screen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97880" y="1298448"/>
            <a:ext cx="5303520" cy="4343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live page was redesigned as a 16:9 broadcast scene: avatar presenter on the left, question and answer on the right.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rigged 3D avatar is loaded in the browser and framed as a presenter portrait.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TTS generation was integrated through OpenRouter using an OpenAI-compatible speech endpoint.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Avatar mouth movement now follows audio timing and volume meter data instead of a fixed short animation.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answer remains visible until speech ends, waits briefly, then moves to the next question.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panel can enable/disable TTS for new answers.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and Current Status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</a:rPr>
              <a:t>QUALITY SUITE SNAPSHOT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A 12-question GTU evaluation set was used to check retrieval and answer behavior.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2532888"/>
            <a:ext cx="66751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</a:rPr>
              <a:t>Top-1 source hit rate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52044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80ED"/>
                </a:solidFill>
              </a:rPr>
              <a:t>58.3%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44068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B7280"/>
                </a:solidFill>
              </a:rPr>
              <a:t>needs improvement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685800" y="3099816"/>
            <a:ext cx="66751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688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</a:rPr>
              <a:t>Top-5 source hit rate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52044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80ED"/>
                </a:solidFill>
              </a:rPr>
              <a:t>83.3%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5440680" y="26883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B7280"/>
                </a:solidFill>
              </a:rPr>
              <a:t>target-level signal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685800" y="3666744"/>
            <a:ext cx="66751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2552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</a:rPr>
              <a:t>Answer keyword hit rate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3520440" y="32552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80ED"/>
                </a:solidFill>
              </a:rPr>
              <a:t>100%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44068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B7280"/>
                </a:solidFill>
              </a:rPr>
              <a:t>good answer coverage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685800" y="4233672"/>
            <a:ext cx="66751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</a:rPr>
              <a:t>Fallback rate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20440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80ED"/>
                </a:solidFill>
              </a:rPr>
              <a:t>0%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44068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B7280"/>
                </a:solidFill>
              </a:rPr>
              <a:t>all cases answered by model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685800" y="4800600"/>
            <a:ext cx="6675120" cy="0"/>
          </a:xfrm>
          <a:prstGeom prst="line">
            <a:avLst/>
          </a:prstGeom>
          <a:noFill/>
          <a:ln w="10160">
            <a:solidFill>
              <a:srgbClr val="D6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389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A2A2A"/>
                </a:solidFill>
              </a:rPr>
              <a:t>Latency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3520440" y="4389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F80ED"/>
                </a:solidFill>
              </a:rPr>
              <a:t>P50 10.1s / P95 18.4s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440680" y="4389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dirty="0">
                <a:solidFill>
                  <a:srgbClr val="6B7280"/>
                </a:solidFill>
              </a:rPr>
              <a:t>above initial target</a:t>
            </a:r>
            <a:endParaRPr lang="en-US" sz="1170" dirty="0"/>
          </a:p>
        </p:txBody>
      </p:sp>
      <p:sp>
        <p:nvSpPr>
          <p:cNvPr id="31" name="Text 29"/>
          <p:cNvSpPr/>
          <p:nvPr/>
        </p:nvSpPr>
        <p:spPr>
          <a:xfrm>
            <a:off x="7955280" y="12618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</a:rPr>
              <a:t>WHAT THIS MEANS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882128" y="1664208"/>
            <a:ext cx="333756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Retrieval is already usable for a demo, but top-1 precision should be improved.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largest remaining technical risk is latency from LLM + TTS calls.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Current system is ready for controlled demo; next phase focuses on robustness and measurement.</a:t>
            </a:r>
            <a:endParaRPr lang="en-US" sz="1460" dirty="0"/>
          </a:p>
        </p:txBody>
      </p:sp>
      <p:sp>
        <p:nvSpPr>
          <p:cNvPr id="33" name="Shape 31"/>
          <p:cNvSpPr/>
          <p:nvPr/>
        </p:nvSpPr>
        <p:spPr>
          <a:xfrm>
            <a:off x="7909560" y="457200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4F8FD">
              <a:alpha val="97000"/>
            </a:srgbClr>
          </a:solidFill>
          <a:ln w="13970">
            <a:solidFill>
              <a:srgbClr val="D6E2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74152" y="4892040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IMAGE PLACEHOLDER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Evaluation chart or test log screenshot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1475720" cy="0"/>
          </a:xfrm>
          <a:prstGeom prst="line">
            <a:avLst/>
          </a:prstGeom>
          <a:noFill/>
          <a:ln w="12700">
            <a:solidFill>
              <a:srgbClr val="D6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1089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393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28.04.2026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CSE496 – Second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9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1298448"/>
            <a:ext cx="6400800" cy="4069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 retrieval ranking with broader official GTU source coverage and better page filtering.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Optimize latency by caching common answers, tuning model choice and separating TTS timing from answer generation.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 YouTube live end-to-end demo with real chat messages and duplicate protection.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Polish avatar delivery: more natural idle motion, stable hair/material settings and better lip-sync calibration.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final evaluation with larger question set and compare results against success criteria.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2A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Finalize documentation, deployment steps and final presentation demo flow.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7498080" y="1325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80ED"/>
                </a:solidFill>
              </a:rPr>
              <a:t>REFERENCES USED IN CONTINUED WORK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A2A2A"/>
                </a:solidFill>
              </a:rPr>
              <a:t>1. Lewis et al., Retrieval-Augmented Generation, NeurIPS 2020.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A2A2A"/>
                </a:solidFill>
              </a:rPr>
              <a:t>2. Karpukhin et al., Dense Passage Retrieval, EMNLP 2020.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A2A2A"/>
                </a:solidFill>
              </a:rPr>
              <a:t>3. FastAPI, Next.js, pgvector and YouTube Data API documentation.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A2A2A"/>
                </a:solidFill>
              </a:rPr>
              <a:t>4. OpenRouter / OpenAI-compatible API documentation.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A2A2A"/>
                </a:solidFill>
              </a:rPr>
              <a:t>5. GTU official web pages and PDF documents used as system data.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452360" y="493776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Final meeting focus: demonstrate the full live loop, quantify reliability, and show how the system behaves when context is missing.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Gebze Technical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AI/RAG-Based Live GTU Q&amp;A System - Second Presentation</dc:title>
  <dc:subject>CSE496 Second Presentation</dc:subject>
  <dc:creator>Ömer Fehmi Çakıcı</dc:creator>
  <cp:lastModifiedBy>Ömer Fehmi Çakıcı</cp:lastModifiedBy>
  <cp:revision>1</cp:revision>
  <dcterms:created xsi:type="dcterms:W3CDTF">2026-04-28T18:35:53Z</dcterms:created>
  <dcterms:modified xsi:type="dcterms:W3CDTF">2026-04-28T18:35:53Z</dcterms:modified>
</cp:coreProperties>
</file>